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handoutMasterIdLst>
    <p:handoutMasterId r:id="rId33"/>
  </p:handoutMasterIdLst>
  <p:sldIdLst>
    <p:sldId id="275" r:id="rId5"/>
    <p:sldId id="338" r:id="rId6"/>
    <p:sldId id="278" r:id="rId7"/>
    <p:sldId id="329" r:id="rId8"/>
    <p:sldId id="328" r:id="rId9"/>
    <p:sldId id="330" r:id="rId10"/>
    <p:sldId id="279" r:id="rId11"/>
    <p:sldId id="331" r:id="rId12"/>
    <p:sldId id="344" r:id="rId13"/>
    <p:sldId id="305" r:id="rId14"/>
    <p:sldId id="335" r:id="rId15"/>
    <p:sldId id="336" r:id="rId16"/>
    <p:sldId id="307" r:id="rId17"/>
    <p:sldId id="332" r:id="rId18"/>
    <p:sldId id="337" r:id="rId19"/>
    <p:sldId id="310" r:id="rId20"/>
    <p:sldId id="342" r:id="rId21"/>
    <p:sldId id="339" r:id="rId22"/>
    <p:sldId id="326" r:id="rId23"/>
    <p:sldId id="325" r:id="rId24"/>
    <p:sldId id="341" r:id="rId25"/>
    <p:sldId id="309" r:id="rId26"/>
    <p:sldId id="343" r:id="rId27"/>
    <p:sldId id="327" r:id="rId28"/>
    <p:sldId id="334" r:id="rId29"/>
    <p:sldId id="340" r:id="rId30"/>
    <p:sldId id="299" r:id="rId31"/>
  </p:sldIdLst>
  <p:sldSz cx="9144000" cy="5143500" type="screen16x9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F00FE-E8B6-4960-ABAA-553B1031B2D4}">
          <p14:sldIdLst>
            <p14:sldId id="275"/>
            <p14:sldId id="338"/>
            <p14:sldId id="278"/>
            <p14:sldId id="329"/>
            <p14:sldId id="328"/>
            <p14:sldId id="330"/>
            <p14:sldId id="279"/>
            <p14:sldId id="331"/>
            <p14:sldId id="344"/>
            <p14:sldId id="305"/>
            <p14:sldId id="335"/>
            <p14:sldId id="336"/>
            <p14:sldId id="307"/>
            <p14:sldId id="332"/>
            <p14:sldId id="337"/>
            <p14:sldId id="310"/>
            <p14:sldId id="342"/>
            <p14:sldId id="339"/>
            <p14:sldId id="326"/>
            <p14:sldId id="325"/>
            <p14:sldId id="341"/>
            <p14:sldId id="309"/>
            <p14:sldId id="343"/>
            <p14:sldId id="327"/>
            <p14:sldId id="334"/>
            <p14:sldId id="340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906"/>
    <a:srgbClr val="A80707"/>
    <a:srgbClr val="A30B35"/>
    <a:srgbClr val="990000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7402DE-CCE5-4569-BFA0-880D2EDE9501}" v="34" dt="2025-08-04T18:37:28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5835" autoAdjust="0"/>
  </p:normalViewPr>
  <p:slideViewPr>
    <p:cSldViewPr>
      <p:cViewPr varScale="1">
        <p:scale>
          <a:sx n="52" d="100"/>
          <a:sy n="52" d="100"/>
        </p:scale>
        <p:origin x="1272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67" d="100"/>
        <a:sy n="267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3570" y="78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hendricksonintl1-my.sharepoint.com/personal/nmaushard_hendrickson-intl_com/Documents/Desktop/Springback%20Analysis/Springback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Springback Ratio</a:t>
            </a:r>
            <a:r>
              <a:rPr lang="en-US" baseline="0" dirty="0"/>
              <a:t> vs Distance from Origin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00B050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8.197645456216629E-2"/>
                  <c:y val="-5.6527156911440495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Mack!$L$17:$Z$17</c:f>
              <c:numCache>
                <c:formatCode>General</c:formatCode>
                <c:ptCount val="15"/>
                <c:pt idx="0">
                  <c:v>45.096699999999998</c:v>
                </c:pt>
                <c:pt idx="1">
                  <c:v>41.3018</c:v>
                </c:pt>
                <c:pt idx="2">
                  <c:v>37.581600000000002</c:v>
                </c:pt>
                <c:pt idx="3">
                  <c:v>32.343200000000003</c:v>
                </c:pt>
                <c:pt idx="4">
                  <c:v>24.731100000000001</c:v>
                </c:pt>
                <c:pt idx="5">
                  <c:v>-45.075699999999998</c:v>
                </c:pt>
                <c:pt idx="6">
                  <c:v>-41.2849</c:v>
                </c:pt>
                <c:pt idx="7">
                  <c:v>-37.567599999999999</c:v>
                </c:pt>
                <c:pt idx="8">
                  <c:v>-32.331499999999998</c:v>
                </c:pt>
                <c:pt idx="9">
                  <c:v>-24.721699999999998</c:v>
                </c:pt>
                <c:pt idx="10">
                  <c:v>17.341100000000001</c:v>
                </c:pt>
                <c:pt idx="11">
                  <c:v>11.4215</c:v>
                </c:pt>
                <c:pt idx="12">
                  <c:v>-17.340499999999999</c:v>
                </c:pt>
                <c:pt idx="13">
                  <c:v>-11.4213</c:v>
                </c:pt>
                <c:pt idx="14">
                  <c:v>0</c:v>
                </c:pt>
              </c:numCache>
            </c:numRef>
          </c:xVal>
          <c:yVal>
            <c:numRef>
              <c:f>Mack!$L$18:$Z$18</c:f>
              <c:numCache>
                <c:formatCode>General</c:formatCode>
                <c:ptCount val="15"/>
                <c:pt idx="0">
                  <c:v>2.5296338240845602</c:v>
                </c:pt>
                <c:pt idx="1">
                  <c:v>2.3395285584768812</c:v>
                </c:pt>
                <c:pt idx="2">
                  <c:v>1.8380281690140845</c:v>
                </c:pt>
                <c:pt idx="3">
                  <c:v>1.3238583410997204</c:v>
                </c:pt>
                <c:pt idx="4">
                  <c:v>0.94182547642928782</c:v>
                </c:pt>
                <c:pt idx="5">
                  <c:v>2.3619350282485878</c:v>
                </c:pt>
                <c:pt idx="6">
                  <c:v>2.1791044776119399</c:v>
                </c:pt>
                <c:pt idx="7">
                  <c:v>1.782056534207292</c:v>
                </c:pt>
                <c:pt idx="8">
                  <c:v>1.3434650455927051</c:v>
                </c:pt>
                <c:pt idx="9">
                  <c:v>1.0783333333333334</c:v>
                </c:pt>
                <c:pt idx="10">
                  <c:v>0.65460030165912519</c:v>
                </c:pt>
                <c:pt idx="11">
                  <c:v>0.56057866184448457</c:v>
                </c:pt>
                <c:pt idx="12">
                  <c:v>0.78854912166558233</c:v>
                </c:pt>
                <c:pt idx="13">
                  <c:v>0.75757575757575757</c:v>
                </c:pt>
                <c:pt idx="14">
                  <c:v>0.45153061224489799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08D-4204-9FD6-7735E0A852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0670816"/>
        <c:axId val="860667936"/>
      </c:scatterChart>
      <c:valAx>
        <c:axId val="860670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Distance</a:t>
                </a:r>
                <a:r>
                  <a:rPr lang="en-US" baseline="0"/>
                  <a:t> to origin (in)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667936"/>
        <c:crosses val="autoZero"/>
        <c:crossBetween val="midCat"/>
      </c:valAx>
      <c:valAx>
        <c:axId val="86066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Springback</a:t>
                </a:r>
                <a:r>
                  <a:rPr lang="en-US" baseline="0" dirty="0"/>
                  <a:t> Ratio (clad/aluminum)</a:t>
                </a:r>
              </a:p>
            </c:rich>
          </c:tx>
          <c:layout>
            <c:manualLayout>
              <c:xMode val="edge"/>
              <c:yMode val="edge"/>
              <c:x val="1.3880087844562251E-2"/>
              <c:y val="0.10651670021523367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670816"/>
        <c:crosses val="autoZero"/>
        <c:crossBetween val="midCat"/>
      </c:valAx>
    </c:plotArea>
    <c:plotVisOnly val="1"/>
    <c:dispBlanksAs val="gap"/>
    <c:showDLblsOverMax val="0"/>
    <c:extLst/>
  </c:chart>
  <c:spPr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0396F641-BF67-4E9C-AADD-CB39D3E30A4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F7521932-08CF-487F-A766-4F426665E6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2970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27C2CF2C-E3C2-4D8B-9483-526176C4145B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07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87" tIns="46644" rIns="93287" bIns="466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350986B7-EE0A-4A37-BBEA-AAF37A8254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7720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1B00AF7-FEEB-4A9A-BFEA-B468D62ED41F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19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ED95697-4215-4A2B-AAD3-51E14DC4BA3E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68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image 1</a:t>
            </a:r>
          </a:p>
          <a:p>
            <a:r>
              <a:rPr lang="en-US" dirty="0"/>
              <a:t>Explain image 2 and visual springback and measurement process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209A87A-3C7A-4554-B24D-0BF70E9B9805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02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graph </a:t>
            </a:r>
          </a:p>
          <a:p>
            <a:r>
              <a:rPr lang="en-US" dirty="0"/>
              <a:t>– axes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each point is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Expectation, flat or linear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Strong fit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Previous operations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B528E3E-8E8C-44D4-8CB6-96E452F8E4DF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5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04A2-3981-BA36-43EE-506846E5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60EBA-2F64-A23F-EE29-A03B67801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93C74-4A25-1266-427C-9872692F1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initial plan with experiment</a:t>
            </a:r>
          </a:p>
          <a:p>
            <a:r>
              <a:rPr lang="en-US" dirty="0"/>
              <a:t>Discrepancy</a:t>
            </a:r>
          </a:p>
          <a:p>
            <a:r>
              <a:rPr lang="en-US" dirty="0"/>
              <a:t>New plan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33D1D9D-E5DE-5966-6EA6-5B605987E2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123D6-A535-A8EF-327E-82229C6146D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E8527EC-A7BF-496E-8CAF-54311B03C916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62C4B-332A-FBC4-C794-3B4FBD90CF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7C5A8-1174-4C76-5496-8FBE5A306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76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process</a:t>
            </a:r>
          </a:p>
          <a:p>
            <a:r>
              <a:rPr lang="en-US" dirty="0"/>
              <a:t>Actual process</a:t>
            </a:r>
          </a:p>
          <a:p>
            <a:r>
              <a:rPr lang="en-US" dirty="0"/>
              <a:t>Why it matters – transporter sub, engineering/maintenance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5553166-D368-4E44-97EF-5DE1B2E707A6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03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prong vs 2 prong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3E36FDC-8980-4EE4-98D0-99AAB392F347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54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process</a:t>
            </a:r>
          </a:p>
          <a:p>
            <a:r>
              <a:rPr lang="en-US" dirty="0"/>
              <a:t>Explain material handling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CE41023-EF72-438C-B600-0A8DEF2FFA08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1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surrounding area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CE95B95-9183-486E-B54D-A8D1DB1F7CF8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interests – thoughts on manufacturing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01D6A9-9675-46B2-8515-5111B9BCA504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86B7-EE0A-4A37-BBEA-AAF37A82544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4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95400" y="2400300"/>
            <a:ext cx="7162800" cy="857250"/>
          </a:xfrm>
        </p:spPr>
        <p:txBody>
          <a:bodyPr/>
          <a:lstStyle>
            <a:lvl1pPr algn="ctr">
              <a:defRPr>
                <a:solidFill>
                  <a:srgbClr val="A30B35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314700"/>
            <a:ext cx="7162800" cy="914400"/>
          </a:xfrm>
        </p:spPr>
        <p:txBody>
          <a:bodyPr lIns="91440"/>
          <a:lstStyle>
            <a:lvl1pPr marL="0" indent="0" algn="ctr"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Hend - The World Rides On Us - ® - 2 color - 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371600" y="936546"/>
            <a:ext cx="6858000" cy="1325880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53A25CB-82AC-4F3C-B1DF-3395DC70ED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7600" y="4629150"/>
            <a:ext cx="2133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1" kern="0" dirty="0">
                <a:solidFill>
                  <a:schemeClr val="accent2"/>
                </a:solidFill>
                <a:latin typeface="+mn-lt"/>
                <a:ea typeface="+mj-ea"/>
                <a:cs typeface="+mj-cs"/>
              </a:rPr>
              <a:t>CONFIDENTIAL</a:t>
            </a:r>
            <a:endParaRPr kumimoji="0" lang="en-US" sz="9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024CD-D909-C385-6391-4FED4A43435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1"/>
          <a:stretch/>
        </p:blipFill>
        <p:spPr>
          <a:xfrm>
            <a:off x="0" y="975"/>
            <a:ext cx="9144000" cy="731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BF9792-8619-4A48-A628-1A5C15E4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207197-C0E3-4077-86CA-4C514D367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2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0111-E52C-18D3-59D7-073C3094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2ACC9136-E5B4-ACCD-AC91-BF539F35CE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914400"/>
            <a:ext cx="5181600" cy="37147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026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941B-6CFF-37F1-DDCB-8B785231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A5DF9D9-F3FC-E931-9E73-F39B739CA4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19400" y="914400"/>
            <a:ext cx="6019800" cy="37147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9497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tional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CB3E42-7B25-4E2E-A4F1-6032A7CAE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674" y="1679926"/>
            <a:ext cx="6992326" cy="2950781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E52A65-9B7D-4FE3-BF0C-505B0F834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82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tional1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C5C32C-3E2F-4204-A46A-921207C569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687" y="1062990"/>
            <a:ext cx="6339840" cy="35661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 highwa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42F1F-149E-4448-BCD3-0A25BDB07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29" y="1337310"/>
            <a:ext cx="5852160" cy="329184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D2E0DA-8ED4-487C-B1FB-E4514157E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92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 highway 2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B33FA7-E178-4F98-AE92-85646711E3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827" y="1154430"/>
            <a:ext cx="6177280" cy="34747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14400"/>
            <a:ext cx="4038600" cy="171450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 marL="1371600" indent="0">
              <a:buSzPct val="11000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800600" y="914400"/>
            <a:ext cx="4038600" cy="1714500"/>
          </a:xfrm>
        </p:spPr>
        <p:txBody>
          <a:bodyPr/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9EA10B-A539-4DF2-864F-83049B461F7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2800350"/>
            <a:ext cx="4038600" cy="171450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5F898D-896C-4CE0-98E1-7C1D754FE4A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809744" y="2800350"/>
            <a:ext cx="4038600" cy="1714500"/>
          </a:xfrm>
        </p:spPr>
        <p:txBody>
          <a:bodyPr/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018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el Efficienc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67D95-12B3-4862-9B1D-7823344C7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925" y="70598"/>
            <a:ext cx="548687" cy="548687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8A5936B-C2EF-4ADE-908C-DFEBE3776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924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time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F125F-B5E4-4354-A937-C9312CCD8C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D9D6920-D489-41AF-B4B8-319C55F39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20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Maintenance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F8804-5F02-4073-A975-42E967E49E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2FD7282-C866-4F98-A19F-59B1453FC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55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weight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4F8A4-9787-4DF6-B4DA-7E0D533E2A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8DBA4B4-6A8F-498C-A1A2-27914DD1E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12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Cost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BBE7D-151E-4FF0-93F1-74B177865F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6D5FEFC-BB35-431C-A614-C007227E6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30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de | Ride Comfort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1FA7C-6E9B-4493-9B6F-4EFC23CC65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363C633-2DFD-4CDE-A3CB-0340901DC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91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ling Stabilit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A9C52-F245-41EA-B61E-AD71AAE15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C3BE43-F482-44B3-92B9-7384E4BE2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5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D94DC-6841-4CB5-8038-A25BDED9C5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861D6FB-8F93-4FFE-872D-85DD6E530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146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re Pressure | Tire Wear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34BC3-41DE-44B8-89FC-D75999979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3000" cy="550145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78DB3D9-DFCF-4ED3-A105-4383CAD97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35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609600" y="1219200"/>
            <a:ext cx="8229600" cy="1276350"/>
          </a:xfrm>
        </p:spPr>
        <p:txBody>
          <a:bodyPr/>
          <a:lstStyle>
            <a:lvl1pPr marL="0" indent="0" algn="ctr">
              <a:buFontTx/>
              <a:buNone/>
              <a:defRPr i="1">
                <a:solidFill>
                  <a:schemeClr val="tx1"/>
                </a:solidFill>
              </a:defRPr>
            </a:lvl1pPr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 dirty="0"/>
              <a:t>Click to edit Subhead text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87508-2BB4-4419-BEFC-20B55A0C2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643" y="1617437"/>
            <a:ext cx="2270713" cy="19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5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AA7EC-CF6F-15F6-1673-86332A3D9596}"/>
              </a:ext>
            </a:extLst>
          </p:cNvPr>
          <p:cNvPicPr>
            <a:picLocks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4" b="11377"/>
          <a:stretch/>
        </p:blipFill>
        <p:spPr>
          <a:xfrm>
            <a:off x="0" y="975"/>
            <a:ext cx="9144000" cy="73152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6913"/>
            <a:ext cx="8229600" cy="374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6607" y="4857750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tx1"/>
                </a:solidFill>
                <a:latin typeface="+mn-lt"/>
              </a:rPr>
              <a:t>© 2025 Hendrickson USA, L.L.C. All Rights Reserved</a:t>
            </a:r>
            <a:endParaRPr 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700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3809" y="4703332"/>
            <a:ext cx="1590582" cy="308328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6C12CBF5-4335-4419-81AD-0D6049F4CC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7600" y="4626173"/>
            <a:ext cx="2133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1" kern="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CONFIDENTIAL</a:t>
            </a:r>
            <a:endParaRPr kumimoji="0" lang="en-US" sz="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063D9B-225E-3393-591D-34A0F917A7F4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771" y="4686186"/>
            <a:ext cx="1400081" cy="3462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682" r:id="rId3"/>
    <p:sldLayoutId id="2147483706" r:id="rId4"/>
    <p:sldLayoutId id="2147483707" r:id="rId5"/>
    <p:sldLayoutId id="2147483686" r:id="rId6"/>
    <p:sldLayoutId id="2147483688" r:id="rId7"/>
    <p:sldLayoutId id="2147483705" r:id="rId8"/>
    <p:sldLayoutId id="2147483687" r:id="rId9"/>
    <p:sldLayoutId id="2147483689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678" r:id="rId20"/>
    <p:sldLayoutId id="2147483684" r:id="rId2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n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5000"/>
        <a:buFont typeface="Wingdings" pitchFamily="2" charset="2"/>
        <a:buChar char="§"/>
        <a:defRPr sz="2400" b="1">
          <a:solidFill>
            <a:srgbClr val="A30B35"/>
          </a:solidFill>
          <a:latin typeface="+mn-lt"/>
          <a:ea typeface="+mn-ea"/>
          <a:cs typeface="+mn-cs"/>
        </a:defRPr>
      </a:lvl1pPr>
      <a:lvl2pPr marL="684213" indent="-227013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Char char="•"/>
        <a:defRPr sz="2000" b="1">
          <a:solidFill>
            <a:schemeClr val="tx1"/>
          </a:solidFill>
          <a:latin typeface="+mn-lt"/>
        </a:defRPr>
      </a:lvl2pPr>
      <a:lvl3pPr marL="1025525" indent="-225425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Font typeface="Wingdings" pitchFamily="2" charset="2"/>
        <a:buChar char="w"/>
        <a:defRPr b="1">
          <a:solidFill>
            <a:schemeClr val="tx1"/>
          </a:solidFill>
          <a:latin typeface="+mn-lt"/>
        </a:defRPr>
      </a:lvl3pPr>
      <a:lvl4pPr marL="1316038" indent="-2286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Font typeface="Times New Roman" pitchFamily="18" charset="0"/>
        <a:buChar char="–"/>
        <a:defRPr sz="1600" b="1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Char char="»"/>
        <a:defRPr sz="14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cid:77A7BD12-68E7-4E8F-A46A-0DD1886035B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724150"/>
            <a:ext cx="7162800" cy="857250"/>
          </a:xfrm>
        </p:spPr>
        <p:txBody>
          <a:bodyPr/>
          <a:lstStyle/>
          <a:p>
            <a:r>
              <a:rPr lang="en-US" dirty="0"/>
              <a:t>Internship Presentation Summer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019550"/>
            <a:ext cx="7162800" cy="381000"/>
          </a:xfrm>
        </p:spPr>
        <p:txBody>
          <a:bodyPr/>
          <a:lstStyle/>
          <a:p>
            <a:r>
              <a:rPr lang="en-US" dirty="0"/>
              <a:t>Neil Maushard</a:t>
            </a:r>
          </a:p>
        </p:txBody>
      </p:sp>
    </p:spTree>
    <p:extLst>
      <p:ext uri="{BB962C8B-B14F-4D97-AF65-F5344CB8AC3E}">
        <p14:creationId xmlns:p14="http://schemas.microsoft.com/office/powerpoint/2010/main" val="212027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1F02A-B968-AC46-7283-6DDD5830FB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9624" y="1218255"/>
            <a:ext cx="4572000" cy="3172770"/>
          </a:xfrm>
        </p:spPr>
        <p:txBody>
          <a:bodyPr/>
          <a:lstStyle/>
          <a:p>
            <a:r>
              <a:rPr lang="en-US" sz="1800" dirty="0"/>
              <a:t>Mechanical Engineering Student at the University of Illinois</a:t>
            </a:r>
          </a:p>
          <a:p>
            <a:pPr lvl="1"/>
            <a:r>
              <a:rPr lang="en-US" sz="1800" dirty="0"/>
              <a:t>Minoring in Electrical Engineering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1800" dirty="0"/>
              <a:t>Personal Interests</a:t>
            </a:r>
          </a:p>
          <a:p>
            <a:pPr lvl="1"/>
            <a:r>
              <a:rPr lang="en-US" sz="1800" dirty="0"/>
              <a:t>Camping and Hiking</a:t>
            </a:r>
          </a:p>
          <a:p>
            <a:pPr lvl="1"/>
            <a:r>
              <a:rPr lang="en-US" sz="1800" dirty="0"/>
              <a:t>Weightlifting</a:t>
            </a:r>
          </a:p>
          <a:p>
            <a:pPr lvl="1"/>
            <a:r>
              <a:rPr lang="en-US" sz="1800" dirty="0"/>
              <a:t>Cooking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7FFB2D-D91A-682B-22C1-B81746B6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AutoShape 2" descr="Image result for illinois logo">
            <a:extLst>
              <a:ext uri="{FF2B5EF4-FFF2-40B4-BE49-F238E27FC236}">
                <a16:creationId xmlns:a16="http://schemas.microsoft.com/office/drawing/2014/main" id="{995EE9D2-533B-0229-6C69-4C4675A4F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1885950"/>
            <a:ext cx="31432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University of Illinois Logo - LogoDix">
            <a:extLst>
              <a:ext uri="{FF2B5EF4-FFF2-40B4-BE49-F238E27FC236}">
                <a16:creationId xmlns:a16="http://schemas.microsoft.com/office/drawing/2014/main" id="{551C0FAE-7027-8680-2E84-4C2C5920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933450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517B9F81-49FA-CDBA-52D1-FF4F5EBBF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34A47ED5-A0BA-79BE-78A9-5365D927A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4" t="33394" r="3541"/>
          <a:stretch>
            <a:fillRect/>
          </a:stretch>
        </p:blipFill>
        <p:spPr bwMode="auto">
          <a:xfrm>
            <a:off x="4343400" y="2343150"/>
            <a:ext cx="2333626" cy="233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48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B35C9D-E8AD-66FB-86CB-AF27B63A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19 Die Rack</a:t>
            </a:r>
          </a:p>
        </p:txBody>
      </p:sp>
      <p:pic>
        <p:nvPicPr>
          <p:cNvPr id="5" name="Content Placeholder 4" descr="A shelf with metal parts on it&#10;&#10;AI-generated content may be incorrect.">
            <a:extLst>
              <a:ext uri="{FF2B5EF4-FFF2-40B4-BE49-F238E27FC236}">
                <a16:creationId xmlns:a16="http://schemas.microsoft.com/office/drawing/2014/main" id="{50845117-AC47-488B-FE8F-6DDC4EFE196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971550"/>
            <a:ext cx="4851400" cy="3638550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9017DA-03AB-AFE7-4E4A-EF5EC9DF827E}"/>
              </a:ext>
            </a:extLst>
          </p:cNvPr>
          <p:cNvSpPr txBox="1">
            <a:spLocks/>
          </p:cNvSpPr>
          <p:nvPr/>
        </p:nvSpPr>
        <p:spPr>
          <a:xfrm>
            <a:off x="5791201" y="1428750"/>
            <a:ext cx="300355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US" sz="2000" kern="0" dirty="0"/>
              <a:t>Problem: Die rack is unorganized and is an ergonomics/safety issue</a:t>
            </a:r>
          </a:p>
          <a:p>
            <a:pPr marL="0" indent="0">
              <a:buNone/>
            </a:pPr>
            <a:endParaRPr lang="en-US" sz="2000" kern="0" dirty="0"/>
          </a:p>
          <a:p>
            <a:pPr marL="0" indent="0">
              <a:buNone/>
            </a:pPr>
            <a:endParaRPr lang="en-US" sz="2000" kern="0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18B4E9C-135B-1091-4B7D-683ADADFD4D3}"/>
              </a:ext>
            </a:extLst>
          </p:cNvPr>
          <p:cNvSpPr/>
          <p:nvPr/>
        </p:nvSpPr>
        <p:spPr>
          <a:xfrm>
            <a:off x="5279615" y="1885950"/>
            <a:ext cx="457200" cy="228600"/>
          </a:xfrm>
          <a:prstGeom prst="leftArrow">
            <a:avLst>
              <a:gd name="adj1" fmla="val 43846"/>
              <a:gd name="adj2" fmla="val 117692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4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487A-4AB8-7C76-1380-0214D0D3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8AD845-197D-2B92-338C-52A51275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19 Die Rack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C67B3-3EBD-20B0-680B-743D6C56A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498" y="895350"/>
            <a:ext cx="6172200" cy="2106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77C9AB-9AF6-5D62-5B6C-0ACB867D3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498" y="3265225"/>
            <a:ext cx="6172200" cy="712177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4D61F8-288F-B483-4D8A-125C451B5B6F}"/>
              </a:ext>
            </a:extLst>
          </p:cNvPr>
          <p:cNvSpPr txBox="1">
            <a:spLocks/>
          </p:cNvSpPr>
          <p:nvPr/>
        </p:nvSpPr>
        <p:spPr>
          <a:xfrm>
            <a:off x="275302" y="826648"/>
            <a:ext cx="2239298" cy="38025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Measured dies, designed rails to fit them</a:t>
            </a:r>
          </a:p>
          <a:p>
            <a:r>
              <a:rPr lang="en-US" sz="1800" kern="0" dirty="0"/>
              <a:t>Determined proper steel tubing and ordered 30 x 2ft</a:t>
            </a:r>
          </a:p>
          <a:p>
            <a:r>
              <a:rPr lang="en-US" sz="1800" kern="0" dirty="0"/>
              <a:t>Designed backstop/guide for assembly with proper tolerance</a:t>
            </a:r>
          </a:p>
          <a:p>
            <a:pPr marL="0" indent="0">
              <a:buNone/>
            </a:pPr>
            <a:endParaRPr lang="en-US" sz="1800" kern="0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837052EB-9794-1FB5-1E45-9CB2514B054F}"/>
              </a:ext>
            </a:extLst>
          </p:cNvPr>
          <p:cNvSpPr/>
          <p:nvPr/>
        </p:nvSpPr>
        <p:spPr>
          <a:xfrm rot="10800000">
            <a:off x="1981200" y="1428750"/>
            <a:ext cx="457200" cy="304800"/>
          </a:xfrm>
          <a:prstGeom prst="leftArrow">
            <a:avLst>
              <a:gd name="adj1" fmla="val 43846"/>
              <a:gd name="adj2" fmla="val 80192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E4EF274E-90B9-6720-52EE-C31E77C108AE}"/>
              </a:ext>
            </a:extLst>
          </p:cNvPr>
          <p:cNvSpPr/>
          <p:nvPr/>
        </p:nvSpPr>
        <p:spPr>
          <a:xfrm rot="10800000">
            <a:off x="2186940" y="3686029"/>
            <a:ext cx="457200" cy="325663"/>
          </a:xfrm>
          <a:prstGeom prst="leftArrow">
            <a:avLst>
              <a:gd name="adj1" fmla="val 43846"/>
              <a:gd name="adj2" fmla="val 73235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09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54EE-CDC6-37BF-C2F5-A6D89419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DF5FBC-5C65-4DFD-A43C-022F0E7D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19 Die Rack</a:t>
            </a:r>
          </a:p>
        </p:txBody>
      </p:sp>
      <p:pic>
        <p:nvPicPr>
          <p:cNvPr id="8" name="Content Placeholder 7" descr="A blue metal shelf with rollers&#10;&#10;AI-generated content may be incorrect.">
            <a:extLst>
              <a:ext uri="{FF2B5EF4-FFF2-40B4-BE49-F238E27FC236}">
                <a16:creationId xmlns:a16="http://schemas.microsoft.com/office/drawing/2014/main" id="{DAE125AC-BB78-416D-0166-B92A34E5BBC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8" t="16308" r="10427" b="29891"/>
          <a:stretch>
            <a:fillRect/>
          </a:stretch>
        </p:blipFill>
        <p:spPr>
          <a:xfrm>
            <a:off x="5410200" y="895350"/>
            <a:ext cx="3583548" cy="1752600"/>
          </a:xfrm>
        </p:spPr>
      </p:pic>
      <p:pic>
        <p:nvPicPr>
          <p:cNvPr id="9" name="Picture 8" descr="A close-up of a metal object&#10;&#10;AI-generated content may be incorrect.">
            <a:extLst>
              <a:ext uri="{FF2B5EF4-FFF2-40B4-BE49-F238E27FC236}">
                <a16:creationId xmlns:a16="http://schemas.microsoft.com/office/drawing/2014/main" id="{8CCFF081-CAC4-E427-4C10-DD7227A93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7" r="9850" b="28361"/>
          <a:stretch>
            <a:fillRect/>
          </a:stretch>
        </p:blipFill>
        <p:spPr>
          <a:xfrm>
            <a:off x="5410200" y="3028950"/>
            <a:ext cx="3583548" cy="1447800"/>
          </a:xfrm>
          <a:prstGeom prst="rect">
            <a:avLst/>
          </a:prstGeom>
        </p:spPr>
      </p:pic>
      <p:pic>
        <p:nvPicPr>
          <p:cNvPr id="11" name="Picture 10" descr="A metal pieces on a carpet&#10;&#10;AI-generated content may be incorrect.">
            <a:extLst>
              <a:ext uri="{FF2B5EF4-FFF2-40B4-BE49-F238E27FC236}">
                <a16:creationId xmlns:a16="http://schemas.microsoft.com/office/drawing/2014/main" id="{30AAA28D-E5B3-2011-31F2-56749A7EB6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8217" y="1420018"/>
            <a:ext cx="3587749" cy="269081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8B1CC3B-FA5F-095D-3DDD-D293AD6EF43D}"/>
              </a:ext>
            </a:extLst>
          </p:cNvPr>
          <p:cNvSpPr txBox="1">
            <a:spLocks/>
          </p:cNvSpPr>
          <p:nvPr/>
        </p:nvSpPr>
        <p:spPr>
          <a:xfrm>
            <a:off x="2918338" y="1200150"/>
            <a:ext cx="2414587" cy="31151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2000" kern="0" dirty="0"/>
              <a:t>Built prototype using thickest dies for POC and operator approval</a:t>
            </a:r>
          </a:p>
          <a:p>
            <a:r>
              <a:rPr lang="en-US" sz="2000" kern="0" dirty="0"/>
              <a:t>Emptied and cleaned rack</a:t>
            </a:r>
          </a:p>
          <a:p>
            <a:r>
              <a:rPr lang="en-US" sz="2000" kern="0" dirty="0"/>
              <a:t>Welded tubing</a:t>
            </a:r>
          </a:p>
          <a:p>
            <a:endParaRPr lang="en-US" sz="2000" kern="0" dirty="0"/>
          </a:p>
          <a:p>
            <a:pPr marL="0" indent="0">
              <a:buNone/>
            </a:pP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60819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17A6-282B-5B5C-9CBC-3ED93EF7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0C65E1-8AF7-1FFD-6709-45BAD995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19 Die Rack</a:t>
            </a:r>
          </a:p>
        </p:txBody>
      </p:sp>
      <p:pic>
        <p:nvPicPr>
          <p:cNvPr id="5" name="Content Placeholder 4" descr="A shelf with metal parts on it&#10;&#10;AI-generated content may be incorrect.">
            <a:extLst>
              <a:ext uri="{FF2B5EF4-FFF2-40B4-BE49-F238E27FC236}">
                <a16:creationId xmlns:a16="http://schemas.microsoft.com/office/drawing/2014/main" id="{931C1311-A4F6-4D18-34C5-82334A79CA4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87"/>
          <a:stretch>
            <a:fillRect/>
          </a:stretch>
        </p:blipFill>
        <p:spPr>
          <a:xfrm>
            <a:off x="246222" y="1405156"/>
            <a:ext cx="3296092" cy="293549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A68626-E711-5A26-93CF-53E5B20D62CB}"/>
              </a:ext>
            </a:extLst>
          </p:cNvPr>
          <p:cNvSpPr txBox="1">
            <a:spLocks/>
          </p:cNvSpPr>
          <p:nvPr/>
        </p:nvSpPr>
        <p:spPr bwMode="auto">
          <a:xfrm>
            <a:off x="6705600" y="656329"/>
            <a:ext cx="1752600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9pPr>
          </a:lstStyle>
          <a:p>
            <a:r>
              <a:rPr lang="en-US" sz="2800" kern="0" dirty="0">
                <a:solidFill>
                  <a:srgbClr val="A30B35"/>
                </a:solidFill>
              </a:rPr>
              <a:t>After</a:t>
            </a:r>
            <a:endParaRPr lang="en-US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FE950D-E08B-30AF-EE55-0325334A7117}"/>
              </a:ext>
            </a:extLst>
          </p:cNvPr>
          <p:cNvSpPr txBox="1">
            <a:spLocks/>
          </p:cNvSpPr>
          <p:nvPr/>
        </p:nvSpPr>
        <p:spPr bwMode="auto">
          <a:xfrm>
            <a:off x="1224399" y="656328"/>
            <a:ext cx="1752600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60000"/>
                </a:solidFill>
                <a:latin typeface="Tahoma" charset="0"/>
              </a:defRPr>
            </a:lvl9pPr>
          </a:lstStyle>
          <a:p>
            <a:r>
              <a:rPr lang="en-US" sz="2800" kern="0" dirty="0">
                <a:solidFill>
                  <a:srgbClr val="A30B35"/>
                </a:solidFill>
              </a:rPr>
              <a:t>Before</a:t>
            </a:r>
            <a:endParaRPr lang="en-US" sz="2800" kern="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813DF1F-EDC6-2CAA-3748-B1049D105C50}"/>
              </a:ext>
            </a:extLst>
          </p:cNvPr>
          <p:cNvSpPr txBox="1">
            <a:spLocks/>
          </p:cNvSpPr>
          <p:nvPr/>
        </p:nvSpPr>
        <p:spPr bwMode="auto">
          <a:xfrm>
            <a:off x="3758568" y="1885950"/>
            <a:ext cx="1642405" cy="2458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US" sz="1800" kern="0" dirty="0"/>
              <a:t>Future:</a:t>
            </a:r>
          </a:p>
          <a:p>
            <a:r>
              <a:rPr lang="en-US" sz="1800" kern="0" dirty="0">
                <a:solidFill>
                  <a:schemeClr val="tx1"/>
                </a:solidFill>
              </a:rPr>
              <a:t>Relabel (?)</a:t>
            </a:r>
          </a:p>
          <a:p>
            <a:r>
              <a:rPr lang="en-US" sz="1800" kern="0" dirty="0">
                <a:solidFill>
                  <a:schemeClr val="tx1"/>
                </a:solidFill>
              </a:rPr>
              <a:t>Lubricate if needed</a:t>
            </a:r>
            <a:endParaRPr lang="en-US" kern="0" dirty="0"/>
          </a:p>
          <a:p>
            <a:pPr lvl="1"/>
            <a:endParaRPr lang="en-US" kern="0" dirty="0"/>
          </a:p>
        </p:txBody>
      </p:sp>
      <p:pic>
        <p:nvPicPr>
          <p:cNvPr id="11" name="Picture 10" descr="A shelf with metal objects on it&#10;&#10;AI-generated content may be incorrect.">
            <a:extLst>
              <a:ext uri="{FF2B5EF4-FFF2-40B4-BE49-F238E27FC236}">
                <a16:creationId xmlns:a16="http://schemas.microsoft.com/office/drawing/2014/main" id="{0CA4DE42-7E51-A1B6-10C2-002C149E91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63" t="2963" r="7527"/>
          <a:stretch>
            <a:fillRect/>
          </a:stretch>
        </p:blipFill>
        <p:spPr>
          <a:xfrm>
            <a:off x="5459550" y="1474705"/>
            <a:ext cx="3438228" cy="286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3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877D-9A31-46A2-8FA3-265ADCD67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29620"/>
            <a:ext cx="8688386" cy="609600"/>
          </a:xfrm>
        </p:spPr>
        <p:txBody>
          <a:bodyPr>
            <a:normAutofit/>
          </a:bodyPr>
          <a:lstStyle/>
          <a:p>
            <a:r>
              <a:rPr lang="en-US" sz="1800" dirty="0"/>
              <a:t>Problem: Stainless steel clad’s springback is not well understood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27C09A-20BD-C38E-D022-0C9D0102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Clad Springback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9D4606-3D6A-49FF-B16F-F59948BB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57" t="22226" r="17989" b="19430"/>
          <a:stretch>
            <a:fillRect/>
          </a:stretch>
        </p:blipFill>
        <p:spPr>
          <a:xfrm>
            <a:off x="4728089" y="1733550"/>
            <a:ext cx="3733801" cy="219147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043121-6755-C0DA-DCE5-DDF839BD1211}"/>
              </a:ext>
            </a:extLst>
          </p:cNvPr>
          <p:cNvSpPr txBox="1">
            <a:spLocks/>
          </p:cNvSpPr>
          <p:nvPr/>
        </p:nvSpPr>
        <p:spPr bwMode="auto">
          <a:xfrm>
            <a:off x="4805875" y="2305050"/>
            <a:ext cx="1676400" cy="5715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 algn="ctr">
              <a:buNone/>
            </a:pPr>
            <a:r>
              <a:rPr lang="en-US" sz="1400" kern="0" dirty="0">
                <a:solidFill>
                  <a:srgbClr val="FFFF00"/>
                </a:solidFill>
              </a:rPr>
              <a:t>Yellow outline –aluminum bumper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46C288F-EFA2-195A-A82A-3F058F88D99B}"/>
              </a:ext>
            </a:extLst>
          </p:cNvPr>
          <p:cNvSpPr txBox="1">
            <a:spLocks/>
          </p:cNvSpPr>
          <p:nvPr/>
        </p:nvSpPr>
        <p:spPr bwMode="auto">
          <a:xfrm>
            <a:off x="4728089" y="3886200"/>
            <a:ext cx="1295401" cy="5715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 algn="ctr">
              <a:buNone/>
            </a:pPr>
            <a:r>
              <a:rPr lang="en-US" sz="1400" kern="0" dirty="0">
                <a:solidFill>
                  <a:srgbClr val="A80707"/>
                </a:solidFill>
              </a:rPr>
              <a:t>Red outline – clad bumper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BE09DF-9B90-C813-1177-900DE2B37092}"/>
              </a:ext>
            </a:extLst>
          </p:cNvPr>
          <p:cNvCxnSpPr>
            <a:cxnSpLocks/>
          </p:cNvCxnSpPr>
          <p:nvPr/>
        </p:nvCxnSpPr>
        <p:spPr>
          <a:xfrm flipV="1">
            <a:off x="5339275" y="3505200"/>
            <a:ext cx="152400" cy="438872"/>
          </a:xfrm>
          <a:prstGeom prst="straightConnector1">
            <a:avLst/>
          </a:prstGeom>
          <a:ln w="12700">
            <a:solidFill>
              <a:srgbClr val="A30B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954848-76C4-9FFB-3CFE-93009B6381B7}"/>
              </a:ext>
            </a:extLst>
          </p:cNvPr>
          <p:cNvCxnSpPr>
            <a:cxnSpLocks/>
          </p:cNvCxnSpPr>
          <p:nvPr/>
        </p:nvCxnSpPr>
        <p:spPr>
          <a:xfrm flipH="1">
            <a:off x="5186082" y="2780939"/>
            <a:ext cx="229393" cy="514531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198C2B5-4E4C-A71A-4E44-D5A7140DFDA2}"/>
              </a:ext>
            </a:extLst>
          </p:cNvPr>
          <p:cNvSpPr txBox="1">
            <a:spLocks/>
          </p:cNvSpPr>
          <p:nvPr/>
        </p:nvSpPr>
        <p:spPr bwMode="auto">
          <a:xfrm>
            <a:off x="6537313" y="2305050"/>
            <a:ext cx="1415256" cy="5715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 algn="ctr">
              <a:buNone/>
            </a:pPr>
            <a:r>
              <a:rPr lang="en-US" sz="1400" kern="0" dirty="0">
                <a:solidFill>
                  <a:srgbClr val="065906"/>
                </a:solidFill>
              </a:rPr>
              <a:t>Green border – die surface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D60A87-1914-4D3C-51C8-1DDD41065644}"/>
              </a:ext>
            </a:extLst>
          </p:cNvPr>
          <p:cNvCxnSpPr>
            <a:cxnSpLocks/>
          </p:cNvCxnSpPr>
          <p:nvPr/>
        </p:nvCxnSpPr>
        <p:spPr>
          <a:xfrm flipH="1">
            <a:off x="7090686" y="2780939"/>
            <a:ext cx="77389" cy="476431"/>
          </a:xfrm>
          <a:prstGeom prst="straightConnector1">
            <a:avLst/>
          </a:prstGeom>
          <a:ln w="12700">
            <a:solidFill>
              <a:srgbClr val="0659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EADE32A-2D5C-0440-905D-01CDC48F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3" y="1624677"/>
            <a:ext cx="3255692" cy="249627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0AA5D9-0521-87B3-C594-EA24901C2D4E}"/>
              </a:ext>
            </a:extLst>
          </p:cNvPr>
          <p:cNvSpPr txBox="1"/>
          <p:nvPr/>
        </p:nvSpPr>
        <p:spPr>
          <a:xfrm>
            <a:off x="574408" y="3410499"/>
            <a:ext cx="266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Green/orange – die</a:t>
            </a:r>
          </a:p>
          <a:p>
            <a:r>
              <a:rPr lang="en-US" sz="1200" b="1" dirty="0"/>
              <a:t>Red – clad bumper scan</a:t>
            </a:r>
          </a:p>
          <a:p>
            <a:r>
              <a:rPr lang="en-US" sz="1200" b="1" dirty="0"/>
              <a:t>Yellow – aluminum bumper scan</a:t>
            </a:r>
          </a:p>
        </p:txBody>
      </p:sp>
    </p:spTree>
    <p:extLst>
      <p:ext uri="{BB962C8B-B14F-4D97-AF65-F5344CB8AC3E}">
        <p14:creationId xmlns:p14="http://schemas.microsoft.com/office/powerpoint/2010/main" val="6936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E7FB-0A57-EF32-20B1-215D4975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32D0785-AB72-5E07-13D3-AFA8468D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Clad Springback Analysis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E71F590-EFFF-F364-8C12-200EDD9BEE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708673"/>
              </p:ext>
            </p:extLst>
          </p:nvPr>
        </p:nvGraphicFramePr>
        <p:xfrm>
          <a:off x="228600" y="1428750"/>
          <a:ext cx="4574899" cy="275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B2F0CB7-9E2C-3069-330F-DCF6D9DCEF76}"/>
              </a:ext>
            </a:extLst>
          </p:cNvPr>
          <p:cNvSpPr txBox="1">
            <a:spLocks/>
          </p:cNvSpPr>
          <p:nvPr/>
        </p:nvSpPr>
        <p:spPr bwMode="auto">
          <a:xfrm>
            <a:off x="4635808" y="1812186"/>
            <a:ext cx="4126399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800" kern="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800" kern="0" dirty="0">
                <a:solidFill>
                  <a:srgbClr val="990000"/>
                </a:solidFill>
              </a:rPr>
              <a:t>Results inconclusive</a:t>
            </a:r>
          </a:p>
          <a:p>
            <a:pPr lvl="1"/>
            <a:r>
              <a:rPr lang="en-US" sz="1800" kern="0" dirty="0">
                <a:solidFill>
                  <a:srgbClr val="990000"/>
                </a:solidFill>
              </a:rPr>
              <a:t>Expected a flat line to confirm hypothesis</a:t>
            </a:r>
          </a:p>
          <a:p>
            <a:pPr lvl="1"/>
            <a:r>
              <a:rPr lang="en-US" sz="1800" kern="0" dirty="0">
                <a:solidFill>
                  <a:srgbClr val="990000"/>
                </a:solidFill>
              </a:rPr>
              <a:t>Other confounding variables such as previous operations</a:t>
            </a:r>
          </a:p>
          <a:p>
            <a:pPr lvl="1"/>
            <a:r>
              <a:rPr lang="en-US" sz="1800" kern="0" dirty="0">
                <a:solidFill>
                  <a:srgbClr val="990000"/>
                </a:solidFill>
              </a:rPr>
              <a:t>Next step is physical experiment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84B2A-3C4B-9C61-C097-46A620FB61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830" t="29369" r="23209" b="31108"/>
          <a:stretch>
            <a:fillRect/>
          </a:stretch>
        </p:blipFill>
        <p:spPr>
          <a:xfrm>
            <a:off x="5240001" y="819150"/>
            <a:ext cx="2918012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2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11050-DEC4-BC3D-9DCC-DA11CBC8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DBF2D6-82E6-35BC-35F1-DCA60668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Clad Springback Analysis</a:t>
            </a:r>
          </a:p>
        </p:txBody>
      </p:sp>
      <p:pic>
        <p:nvPicPr>
          <p:cNvPr id="6" name="Picture 5" descr="A backpack on a wall&#10;&#10;AI-generated content may be incorrect.">
            <a:extLst>
              <a:ext uri="{FF2B5EF4-FFF2-40B4-BE49-F238E27FC236}">
                <a16:creationId xmlns:a16="http://schemas.microsoft.com/office/drawing/2014/main" id="{377ACDF9-7552-6D2F-DED0-AF9F640FAA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1" r="18889"/>
          <a:stretch>
            <a:fillRect/>
          </a:stretch>
        </p:blipFill>
        <p:spPr>
          <a:xfrm rot="5400000">
            <a:off x="1860884" y="1135844"/>
            <a:ext cx="1395494" cy="20778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6502A9-C707-7F75-B2B8-1ECEB7FE5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406" y="761055"/>
            <a:ext cx="4267201" cy="12763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Cut and channeled 3 pieces (clad, steel, aluminum) using same program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8986CED-8F94-DC85-33CE-F468CD3667AB}"/>
              </a:ext>
            </a:extLst>
          </p:cNvPr>
          <p:cNvSpPr/>
          <p:nvPr/>
        </p:nvSpPr>
        <p:spPr>
          <a:xfrm rot="16200000">
            <a:off x="2511613" y="3034982"/>
            <a:ext cx="285750" cy="228600"/>
          </a:xfrm>
          <a:prstGeom prst="leftArrow">
            <a:avLst>
              <a:gd name="adj1" fmla="val 43846"/>
              <a:gd name="adj2" fmla="val 77692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EA22A0-D7D5-8C34-E070-432D90B8E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87" y="3486150"/>
            <a:ext cx="4267201" cy="9981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45B1D3-77BD-F9ED-465C-A3011251520B}"/>
              </a:ext>
            </a:extLst>
          </p:cNvPr>
          <p:cNvSpPr txBox="1"/>
          <p:nvPr/>
        </p:nvSpPr>
        <p:spPr>
          <a:xfrm>
            <a:off x="1940020" y="3598089"/>
            <a:ext cx="1657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Blue – steel</a:t>
            </a:r>
          </a:p>
          <a:p>
            <a:r>
              <a:rPr lang="en-US" sz="1200" b="1" dirty="0"/>
              <a:t>Red – clad</a:t>
            </a:r>
          </a:p>
          <a:p>
            <a:r>
              <a:rPr lang="en-US" sz="1200" b="1" dirty="0"/>
              <a:t>Yellow – aluminum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CF0DE02-C8E8-AAFC-BC78-02B1A35F86FE}"/>
              </a:ext>
            </a:extLst>
          </p:cNvPr>
          <p:cNvSpPr txBox="1">
            <a:spLocks/>
          </p:cNvSpPr>
          <p:nvPr/>
        </p:nvSpPr>
        <p:spPr bwMode="auto">
          <a:xfrm>
            <a:off x="4876800" y="1276350"/>
            <a:ext cx="3810794" cy="3352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Discrepancy: steel should be stiffer than aluminum</a:t>
            </a:r>
          </a:p>
          <a:p>
            <a:r>
              <a:rPr lang="en-US" sz="1800" kern="0" dirty="0"/>
              <a:t>Measured thickness</a:t>
            </a:r>
          </a:p>
          <a:p>
            <a:pPr lvl="1"/>
            <a:r>
              <a:rPr lang="en-US" sz="1400" kern="0" dirty="0"/>
              <a:t>Steel: 0.117 in</a:t>
            </a:r>
          </a:p>
          <a:p>
            <a:pPr lvl="1"/>
            <a:r>
              <a:rPr lang="en-US" sz="1400" kern="0" dirty="0"/>
              <a:t>Aluminum: 0.132 in (including PVC)</a:t>
            </a:r>
          </a:p>
          <a:p>
            <a:pPr lvl="1"/>
            <a:r>
              <a:rPr lang="en-US" sz="1400" kern="0" dirty="0"/>
              <a:t>Clad: 0.125 in (including PVC)</a:t>
            </a:r>
          </a:p>
          <a:p>
            <a:r>
              <a:rPr lang="en-US" sz="1800" kern="0" dirty="0"/>
              <a:t>Try again, ensuring uniform thickness, then rescan</a:t>
            </a:r>
          </a:p>
          <a:p>
            <a:r>
              <a:rPr lang="en-US" sz="1800" kern="0" dirty="0"/>
              <a:t>Then bend parts on press 14/15</a:t>
            </a:r>
          </a:p>
        </p:txBody>
      </p:sp>
    </p:spTree>
    <p:extLst>
      <p:ext uri="{BB962C8B-B14F-4D97-AF65-F5344CB8AC3E}">
        <p14:creationId xmlns:p14="http://schemas.microsoft.com/office/powerpoint/2010/main" val="370665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9E2A-5ADC-31CC-2B9D-6C15D4F3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ectangular object with a pattern on it&#10;&#10;AI-generated content may be incorrect.">
            <a:extLst>
              <a:ext uri="{FF2B5EF4-FFF2-40B4-BE49-F238E27FC236}">
                <a16:creationId xmlns:a16="http://schemas.microsoft.com/office/drawing/2014/main" id="{8EB0025D-AB62-B63B-7461-B650FD6CB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76" b="16153"/>
          <a:stretch>
            <a:fillRect/>
          </a:stretch>
        </p:blipFill>
        <p:spPr>
          <a:xfrm>
            <a:off x="389286" y="2025975"/>
            <a:ext cx="4152234" cy="1987691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3FB39B-6ACF-1AEB-421B-9D81F00C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Part Marking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1CE7110-D417-642E-E2A1-89614BCC0973}"/>
              </a:ext>
            </a:extLst>
          </p:cNvPr>
          <p:cNvSpPr txBox="1">
            <a:spLocks/>
          </p:cNvSpPr>
          <p:nvPr/>
        </p:nvSpPr>
        <p:spPr bwMode="auto">
          <a:xfrm>
            <a:off x="389287" y="755340"/>
            <a:ext cx="3801714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US" sz="1800" kern="0" dirty="0"/>
              <a:t>Problem: Mecco part marking leads to many inaccuracies </a:t>
            </a:r>
          </a:p>
          <a:p>
            <a:pPr marL="0" indent="0">
              <a:buNone/>
            </a:pPr>
            <a:r>
              <a:rPr lang="en-US" sz="1800" kern="0" dirty="0"/>
              <a:t>Solution: Mark parts with laser</a:t>
            </a:r>
          </a:p>
          <a:p>
            <a:pPr marL="0" indent="0">
              <a:buNone/>
            </a:pPr>
            <a:endParaRPr lang="en-US" sz="1800" kern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A9312C-D40A-A32A-A00A-36C2DC48C85D}"/>
              </a:ext>
            </a:extLst>
          </p:cNvPr>
          <p:cNvSpPr txBox="1">
            <a:spLocks/>
          </p:cNvSpPr>
          <p:nvPr/>
        </p:nvSpPr>
        <p:spPr bwMode="auto">
          <a:xfrm>
            <a:off x="4602482" y="819150"/>
            <a:ext cx="4389118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kern="0" dirty="0"/>
              <a:t>Started with steel, which goes through post-processing</a:t>
            </a:r>
          </a:p>
          <a:p>
            <a:pPr>
              <a:spcAft>
                <a:spcPts val="0"/>
              </a:spcAft>
            </a:pPr>
            <a:r>
              <a:rPr lang="en-US" sz="1800" kern="0" dirty="0"/>
              <a:t>Tried many different setting combinations</a:t>
            </a:r>
          </a:p>
          <a:p>
            <a:pPr lvl="1">
              <a:spcAft>
                <a:spcPts val="0"/>
              </a:spcAft>
            </a:pPr>
            <a:r>
              <a:rPr lang="en-US" sz="1600" kern="0" dirty="0"/>
              <a:t>Power - how much energy is in each laser pulse</a:t>
            </a:r>
          </a:p>
          <a:p>
            <a:pPr lvl="1">
              <a:spcAft>
                <a:spcPts val="0"/>
              </a:spcAft>
            </a:pPr>
            <a:r>
              <a:rPr lang="en-US" sz="1600" kern="0" dirty="0"/>
              <a:t>Pulses/mm - how often the laser pulses while traveling</a:t>
            </a:r>
          </a:p>
          <a:p>
            <a:pPr lvl="1">
              <a:spcAft>
                <a:spcPts val="0"/>
              </a:spcAft>
            </a:pPr>
            <a:r>
              <a:rPr lang="en-US" sz="1600" kern="0" dirty="0"/>
              <a:t>Pulse width - how long each pulse is</a:t>
            </a:r>
          </a:p>
          <a:p>
            <a:pPr>
              <a:spcAft>
                <a:spcPts val="0"/>
              </a:spcAft>
            </a:pPr>
            <a:r>
              <a:rPr lang="en-US" sz="1800" kern="0" dirty="0"/>
              <a:t>Results were displeasing (?)</a:t>
            </a:r>
          </a:p>
          <a:p>
            <a:pPr lvl="1">
              <a:spcAft>
                <a:spcPts val="0"/>
              </a:spcAft>
            </a:pPr>
            <a:r>
              <a:rPr lang="en-US" sz="1600" kern="0" dirty="0"/>
              <a:t>Either look/scan well but too shallow or are deep but don’t scan</a:t>
            </a:r>
          </a:p>
          <a:p>
            <a:pPr>
              <a:spcAft>
                <a:spcPts val="0"/>
              </a:spcAft>
            </a:pPr>
            <a:r>
              <a:rPr lang="en-US" sz="1800" kern="0" dirty="0"/>
              <a:t>Depends on what is required</a:t>
            </a:r>
          </a:p>
        </p:txBody>
      </p:sp>
    </p:spTree>
    <p:extLst>
      <p:ext uri="{BB962C8B-B14F-4D97-AF65-F5344CB8AC3E}">
        <p14:creationId xmlns:p14="http://schemas.microsoft.com/office/powerpoint/2010/main" val="566458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FD8B-5920-BE7D-4266-E778928F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metal plate with writing on it&#10;&#10;AI-generated content may be incorrect.">
            <a:extLst>
              <a:ext uri="{FF2B5EF4-FFF2-40B4-BE49-F238E27FC236}">
                <a16:creationId xmlns:a16="http://schemas.microsoft.com/office/drawing/2014/main" id="{1AF3BCD8-FC8B-8C3A-4406-E953745716A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62525" y="1378744"/>
            <a:ext cx="3714750" cy="278606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BEF57E-27B8-0BA4-2D9E-985367CD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Part Marking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2CEE2D-B101-EEFD-EB11-BA58529181C7}"/>
              </a:ext>
            </a:extLst>
          </p:cNvPr>
          <p:cNvSpPr txBox="1">
            <a:spLocks/>
          </p:cNvSpPr>
          <p:nvPr/>
        </p:nvSpPr>
        <p:spPr bwMode="auto">
          <a:xfrm>
            <a:off x="585154" y="1200150"/>
            <a:ext cx="4495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kern="0" dirty="0"/>
              <a:t>Clad doesn’t go through post-processing</a:t>
            </a:r>
          </a:p>
          <a:p>
            <a:pPr>
              <a:spcAft>
                <a:spcPts val="600"/>
              </a:spcAft>
            </a:pPr>
            <a:r>
              <a:rPr lang="en-US" sz="1800" kern="0" dirty="0"/>
              <a:t>Tried a few combinations</a:t>
            </a:r>
          </a:p>
          <a:p>
            <a:pPr>
              <a:spcAft>
                <a:spcPts val="600"/>
              </a:spcAft>
            </a:pPr>
            <a:r>
              <a:rPr lang="en-US" sz="1800" kern="0" dirty="0"/>
              <a:t>Success! But….</a:t>
            </a:r>
          </a:p>
          <a:p>
            <a:pPr lvl="1">
              <a:spcAft>
                <a:spcPts val="600"/>
              </a:spcAft>
            </a:pPr>
            <a:r>
              <a:rPr lang="en-US" sz="1600" kern="0" dirty="0"/>
              <a:t>Extra cleaning</a:t>
            </a:r>
          </a:p>
          <a:p>
            <a:pPr>
              <a:spcAft>
                <a:spcPts val="600"/>
              </a:spcAft>
            </a:pPr>
            <a:r>
              <a:rPr lang="en-US" sz="1800" kern="0" dirty="0"/>
              <a:t>Might lead to more clad being run on Bystronic</a:t>
            </a:r>
          </a:p>
        </p:txBody>
      </p:sp>
    </p:spTree>
    <p:extLst>
      <p:ext uri="{BB962C8B-B14F-4D97-AF65-F5344CB8AC3E}">
        <p14:creationId xmlns:p14="http://schemas.microsoft.com/office/powerpoint/2010/main" val="197958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8E420F-995D-CA28-B75F-F6459BA79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Marking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AAB488-AC7B-663F-8426-BCD98C282930}"/>
              </a:ext>
            </a:extLst>
          </p:cNvPr>
          <p:cNvSpPr txBox="1">
            <a:spLocks/>
          </p:cNvSpPr>
          <p:nvPr/>
        </p:nvSpPr>
        <p:spPr bwMode="auto">
          <a:xfrm>
            <a:off x="293076" y="819150"/>
            <a:ext cx="4076034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kern="0" dirty="0"/>
              <a:t>Moving Forward</a:t>
            </a:r>
            <a:endParaRPr lang="en-US" sz="1800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D8EDE6-EECA-AD6B-55BF-E95AFF783B95}"/>
              </a:ext>
            </a:extLst>
          </p:cNvPr>
          <p:cNvSpPr txBox="1">
            <a:spLocks/>
          </p:cNvSpPr>
          <p:nvPr/>
        </p:nvSpPr>
        <p:spPr bwMode="auto">
          <a:xfrm>
            <a:off x="1066800" y="1352550"/>
            <a:ext cx="7696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kern="0" dirty="0"/>
              <a:t>Test aluminum</a:t>
            </a:r>
          </a:p>
          <a:p>
            <a:pPr>
              <a:spcAft>
                <a:spcPts val="600"/>
              </a:spcAft>
            </a:pPr>
            <a:r>
              <a:rPr lang="en-US" sz="1800" kern="0" dirty="0"/>
              <a:t>Integrate marking into Bystronic laser programs</a:t>
            </a:r>
          </a:p>
          <a:p>
            <a:pPr lvl="1">
              <a:spcAft>
                <a:spcPts val="600"/>
              </a:spcAft>
            </a:pPr>
            <a:r>
              <a:rPr lang="en-US" sz="1600" kern="0" dirty="0"/>
              <a:t>Bystronic does not have automatic date updates</a:t>
            </a:r>
          </a:p>
          <a:p>
            <a:pPr>
              <a:spcAft>
                <a:spcPts val="600"/>
              </a:spcAft>
            </a:pPr>
            <a:r>
              <a:rPr lang="en-US" sz="1800" kern="0" dirty="0"/>
              <a:t>Explore engraving with Trumpf laser now that we have Bystronic software</a:t>
            </a:r>
          </a:p>
          <a:p>
            <a:pPr lvl="1">
              <a:spcAft>
                <a:spcPts val="600"/>
              </a:spcAft>
            </a:pPr>
            <a:r>
              <a:rPr lang="en-US" sz="1600" kern="0" dirty="0"/>
              <a:t>Settings previously determined, but old Trumpf software couldn’t handle barcodes</a:t>
            </a:r>
          </a:p>
          <a:p>
            <a:pPr marL="0" indent="0">
              <a:spcAft>
                <a:spcPts val="600"/>
              </a:spcAft>
              <a:buNone/>
            </a:pP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11894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188E-BA0B-53AA-8B9F-B07EA2C2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yellow and purple mold on a wood surface&#10;&#10;AI-generated content may be incorrect.">
            <a:extLst>
              <a:ext uri="{FF2B5EF4-FFF2-40B4-BE49-F238E27FC236}">
                <a16:creationId xmlns:a16="http://schemas.microsoft.com/office/drawing/2014/main" id="{6861DEEE-1638-475C-301E-3C9DB472B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13693" y="1977096"/>
            <a:ext cx="3276600" cy="24574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03A2E-DFF9-88EA-8D41-CAE96A38B4D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8014" y="1074420"/>
            <a:ext cx="4191000" cy="76105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990000"/>
                </a:solidFill>
              </a:rPr>
              <a:t>New set of vacuum and magnet heads for press 217 manipulators</a:t>
            </a:r>
          </a:p>
          <a:p>
            <a:pPr lvl="1"/>
            <a:endParaRPr lang="en-US" sz="1800" dirty="0">
              <a:solidFill>
                <a:srgbClr val="99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177009D-E696-DD22-74D2-323DCFF8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Press 217 Manipulator Heads</a:t>
            </a:r>
          </a:p>
        </p:txBody>
      </p:sp>
      <p:pic>
        <p:nvPicPr>
          <p:cNvPr id="8" name="Picture 7" descr="A metal object with purple rings&#10;&#10;AI-generated content may be incorrect.">
            <a:extLst>
              <a:ext uri="{FF2B5EF4-FFF2-40B4-BE49-F238E27FC236}">
                <a16:creationId xmlns:a16="http://schemas.microsoft.com/office/drawing/2014/main" id="{C956811E-2921-CD58-319F-ABF0D7F2AD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4" t="12778" r="9718"/>
          <a:stretch>
            <a:fillRect/>
          </a:stretch>
        </p:blipFill>
        <p:spPr>
          <a:xfrm rot="5400000">
            <a:off x="5030382" y="1237068"/>
            <a:ext cx="3600137" cy="29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45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824C-5B51-DD31-9FF8-61CA249B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F0438A-128C-272A-2925-C15F8317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/>
          <a:lstStyle/>
          <a:p>
            <a:r>
              <a:rPr lang="en-US" dirty="0"/>
              <a:t>Press 217 Manipulator 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EE3B-8DD8-46AD-E995-F49DB445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04950"/>
            <a:ext cx="3505200" cy="3239902"/>
          </a:xfrm>
        </p:spPr>
        <p:txBody>
          <a:bodyPr>
            <a:normAutofit/>
          </a:bodyPr>
          <a:lstStyle/>
          <a:p>
            <a:r>
              <a:rPr lang="en-US" sz="1800" dirty="0"/>
              <a:t>4 purple vacuum heads</a:t>
            </a:r>
          </a:p>
          <a:p>
            <a:r>
              <a:rPr lang="en-US" sz="1800" dirty="0"/>
              <a:t>4 yellow vacuum heads</a:t>
            </a:r>
          </a:p>
          <a:p>
            <a:r>
              <a:rPr lang="en-US" sz="1800" dirty="0"/>
              <a:t>4 pneumatic magnet heads</a:t>
            </a:r>
          </a:p>
          <a:p>
            <a:r>
              <a:rPr lang="en-US" sz="1800" dirty="0"/>
              <a:t>2 manual magnet heads</a:t>
            </a:r>
          </a:p>
          <a:p>
            <a:pPr lvl="1"/>
            <a:r>
              <a:rPr lang="en-US" sz="1600" dirty="0"/>
              <a:t>2 extra brackets</a:t>
            </a:r>
          </a:p>
          <a:p>
            <a:r>
              <a:rPr lang="en-US" sz="1800" dirty="0"/>
              <a:t>Saved ~$30,000 by not buying from GCI</a:t>
            </a:r>
          </a:p>
        </p:txBody>
      </p:sp>
      <p:pic>
        <p:nvPicPr>
          <p:cNvPr id="8" name="Picture 7" descr="A desk with a variety of toy wheels&#10;&#10;AI-generated content may be incorrect.">
            <a:extLst>
              <a:ext uri="{FF2B5EF4-FFF2-40B4-BE49-F238E27FC236}">
                <a16:creationId xmlns:a16="http://schemas.microsoft.com/office/drawing/2014/main" id="{506EDDFE-2E6E-1C0A-3257-F2CB9B3D2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86"/>
          <a:stretch>
            <a:fillRect/>
          </a:stretch>
        </p:blipFill>
        <p:spPr>
          <a:xfrm>
            <a:off x="3886200" y="1352550"/>
            <a:ext cx="4831212" cy="28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1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9CAFD-BAB4-2AEA-1235-2C58F3FE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chine with pipes and hoses&#10;&#10;AI-generated content may be incorrect.">
            <a:extLst>
              <a:ext uri="{FF2B5EF4-FFF2-40B4-BE49-F238E27FC236}">
                <a16:creationId xmlns:a16="http://schemas.microsoft.com/office/drawing/2014/main" id="{0D7D266D-8276-62B3-E1E0-9D081C12C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8" r="25713" b="31034"/>
          <a:stretch>
            <a:fillRect/>
          </a:stretch>
        </p:blipFill>
        <p:spPr>
          <a:xfrm>
            <a:off x="457200" y="2075683"/>
            <a:ext cx="2286000" cy="216999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CE469F-23D9-BC83-06B2-001CD9A5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Bystronic Slat Lift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E03EA7D-D618-092F-D939-A460AB98E6AB}"/>
              </a:ext>
            </a:extLst>
          </p:cNvPr>
          <p:cNvSpPr txBox="1">
            <a:spLocks/>
          </p:cNvSpPr>
          <p:nvPr/>
        </p:nvSpPr>
        <p:spPr bwMode="auto">
          <a:xfrm>
            <a:off x="487680" y="774192"/>
            <a:ext cx="5227320" cy="194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Problem: Bystronic slats degrade over time and need to be rotated out, but are very heavy and hard to move</a:t>
            </a:r>
          </a:p>
          <a:p>
            <a:r>
              <a:rPr lang="en-US" sz="1800" kern="0" dirty="0"/>
              <a:t>Solution: Use vacuum lift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F373C8-F1E3-E0E1-E851-8F8E009F9D7A}"/>
              </a:ext>
            </a:extLst>
          </p:cNvPr>
          <p:cNvSpPr txBox="1">
            <a:spLocks/>
          </p:cNvSpPr>
          <p:nvPr/>
        </p:nvSpPr>
        <p:spPr bwMode="auto">
          <a:xfrm>
            <a:off x="2895600" y="2075683"/>
            <a:ext cx="3195201" cy="2641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Worked with Ramon to design, build, and install a hook onto the vacuum lift</a:t>
            </a:r>
          </a:p>
          <a:p>
            <a:r>
              <a:rPr lang="en-US" sz="1800" kern="0" dirty="0"/>
              <a:t>Now slats can be chained to lift</a:t>
            </a:r>
          </a:p>
          <a:p>
            <a:r>
              <a:rPr lang="en-US" sz="1800" kern="0" dirty="0"/>
              <a:t>Time to rotate slats reduced from 3 hours to 1 hour </a:t>
            </a:r>
          </a:p>
        </p:txBody>
      </p:sp>
      <p:pic>
        <p:nvPicPr>
          <p:cNvPr id="11" name="Picture 10" descr="A machine in a factory&#10;&#10;AI-generated content may be incorrect.">
            <a:extLst>
              <a:ext uri="{FF2B5EF4-FFF2-40B4-BE49-F238E27FC236}">
                <a16:creationId xmlns:a16="http://schemas.microsoft.com/office/drawing/2014/main" id="{19739838-56C9-DC35-02EC-84EE24F187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r="19225"/>
          <a:stretch>
            <a:fillRect/>
          </a:stretch>
        </p:blipFill>
        <p:spPr>
          <a:xfrm rot="5400000">
            <a:off x="5832767" y="1426152"/>
            <a:ext cx="3198204" cy="259599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9FA21-2DC6-D410-47E2-CDBDDB11CBD6}"/>
              </a:ext>
            </a:extLst>
          </p:cNvPr>
          <p:cNvCxnSpPr>
            <a:cxnSpLocks/>
          </p:cNvCxnSpPr>
          <p:nvPr/>
        </p:nvCxnSpPr>
        <p:spPr>
          <a:xfrm flipV="1">
            <a:off x="7467600" y="2876550"/>
            <a:ext cx="1066800" cy="1354593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3DEE02-C73A-751B-AC92-B050933DE038}"/>
              </a:ext>
            </a:extLst>
          </p:cNvPr>
          <p:cNvCxnSpPr>
            <a:cxnSpLocks/>
          </p:cNvCxnSpPr>
          <p:nvPr/>
        </p:nvCxnSpPr>
        <p:spPr>
          <a:xfrm flipH="1" flipV="1">
            <a:off x="6400800" y="3867150"/>
            <a:ext cx="1066800" cy="363993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B3B578-E6DC-A0E5-4C23-7C61A3CC3A77}"/>
              </a:ext>
            </a:extLst>
          </p:cNvPr>
          <p:cNvCxnSpPr>
            <a:cxnSpLocks/>
          </p:cNvCxnSpPr>
          <p:nvPr/>
        </p:nvCxnSpPr>
        <p:spPr>
          <a:xfrm flipV="1">
            <a:off x="6400800" y="2798979"/>
            <a:ext cx="1524000" cy="1068171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5BF07F-525A-3F4E-C1C9-3C39BF6602F6}"/>
              </a:ext>
            </a:extLst>
          </p:cNvPr>
          <p:cNvCxnSpPr>
            <a:cxnSpLocks/>
          </p:cNvCxnSpPr>
          <p:nvPr/>
        </p:nvCxnSpPr>
        <p:spPr>
          <a:xfrm flipH="1" flipV="1">
            <a:off x="7924800" y="2800350"/>
            <a:ext cx="609600" cy="7620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898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A68F62-558B-E870-238D-F4C73C1ED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8818"/>
            <a:ext cx="3733800" cy="3714750"/>
          </a:xfrm>
        </p:spPr>
        <p:txBody>
          <a:bodyPr>
            <a:normAutofit/>
          </a:bodyPr>
          <a:lstStyle/>
          <a:p>
            <a:r>
              <a:rPr lang="en-US" sz="1800" dirty="0"/>
              <a:t>Problem: Raw bay organization was overcomplicated, and inventory was inaccurate </a:t>
            </a:r>
          </a:p>
          <a:p>
            <a:r>
              <a:rPr lang="en-US" sz="1800" dirty="0"/>
              <a:t>Solution: simplify</a:t>
            </a:r>
          </a:p>
          <a:p>
            <a:pPr lvl="1"/>
            <a:r>
              <a:rPr lang="en-US" sz="1400" dirty="0"/>
              <a:t>Shelf specific -&gt; rack specific</a:t>
            </a:r>
          </a:p>
          <a:p>
            <a:pPr lvl="1"/>
            <a:r>
              <a:rPr lang="en-US" sz="1400" dirty="0"/>
              <a:t>Ex. R1.08.5 becomes R4</a:t>
            </a:r>
          </a:p>
          <a:p>
            <a:r>
              <a:rPr lang="en-US" sz="1800" dirty="0"/>
              <a:t>Implement audit system to prevent deterioration</a:t>
            </a:r>
          </a:p>
          <a:p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185378-43E7-6D56-2BFB-3573F0E6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Bay Reorganization</a:t>
            </a:r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059C0F78-57B8-4EAB-B2B6-1AA6BCF5CC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" b="4896"/>
          <a:stretch>
            <a:fillRect/>
          </a:stretch>
        </p:blipFill>
        <p:spPr bwMode="auto">
          <a:xfrm>
            <a:off x="4038600" y="3006193"/>
            <a:ext cx="4495801" cy="1592263"/>
          </a:xfrm>
          <a:prstGeom prst="rect">
            <a:avLst/>
          </a:prstGeom>
          <a:noFill/>
          <a:ln w="25400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239ECDA-4DD8-8A11-D777-06C634B4A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3" r="3893" b="8682"/>
          <a:stretch>
            <a:fillRect/>
          </a:stretch>
        </p:blipFill>
        <p:spPr bwMode="auto">
          <a:xfrm>
            <a:off x="4038599" y="853440"/>
            <a:ext cx="4495801" cy="1529822"/>
          </a:xfrm>
          <a:prstGeom prst="rect">
            <a:avLst/>
          </a:prstGeom>
          <a:noFill/>
          <a:ln w="25400">
            <a:solidFill>
              <a:srgbClr val="99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430422B2-F9F3-4D34-2C93-119C5451AA65}"/>
              </a:ext>
            </a:extLst>
          </p:cNvPr>
          <p:cNvSpPr/>
          <p:nvPr/>
        </p:nvSpPr>
        <p:spPr>
          <a:xfrm rot="16200000">
            <a:off x="6096000" y="2524125"/>
            <a:ext cx="457200" cy="304800"/>
          </a:xfrm>
          <a:prstGeom prst="leftArrow">
            <a:avLst>
              <a:gd name="adj1" fmla="val 43846"/>
              <a:gd name="adj2" fmla="val 80192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2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048A-65DF-9130-DC7D-5C40D789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2C56D8-198D-84E7-25C1-AD9E6165B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19150"/>
            <a:ext cx="4648200" cy="3714750"/>
          </a:xfrm>
        </p:spPr>
        <p:txBody>
          <a:bodyPr>
            <a:normAutofit/>
          </a:bodyPr>
          <a:lstStyle/>
          <a:p>
            <a:r>
              <a:rPr lang="en-US" sz="1800" dirty="0"/>
              <a:t>Created new labels with larger barcodes and fonts</a:t>
            </a:r>
          </a:p>
          <a:p>
            <a:pPr lvl="1"/>
            <a:r>
              <a:rPr lang="en-US" sz="1400" dirty="0"/>
              <a:t>Magnetic, allowing for easier changes</a:t>
            </a:r>
          </a:p>
          <a:p>
            <a:r>
              <a:rPr lang="en-US" sz="1800" dirty="0"/>
              <a:t>Placed new labels and working on taping over old ones with Rafay’s help</a:t>
            </a:r>
          </a:p>
          <a:p>
            <a:r>
              <a:rPr lang="en-US" sz="1800" dirty="0"/>
              <a:t>Worked with Miguel, Rafay, and Vince to move raw material to new proper place and update inventory</a:t>
            </a:r>
          </a:p>
          <a:p>
            <a:pPr lvl="1"/>
            <a:r>
              <a:rPr lang="en-US" sz="1400" dirty="0"/>
              <a:t>While updating inventory, we realized inventory was more inaccurate than we thought</a:t>
            </a:r>
          </a:p>
          <a:p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8DA57B-2203-D320-6F26-E83CFD07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Bay Reorganization</a:t>
            </a:r>
          </a:p>
        </p:txBody>
      </p:sp>
      <p:pic>
        <p:nvPicPr>
          <p:cNvPr id="5" name="Picture 4" descr="A blue metal container under a truck&#10;&#10;AI-generated content may be incorrect.">
            <a:extLst>
              <a:ext uri="{FF2B5EF4-FFF2-40B4-BE49-F238E27FC236}">
                <a16:creationId xmlns:a16="http://schemas.microsoft.com/office/drawing/2014/main" id="{044E8A2E-8D5C-B936-04C5-CEA1395AFF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9" t="8190" r="3390" b="16385"/>
          <a:stretch>
            <a:fillRect/>
          </a:stretch>
        </p:blipFill>
        <p:spPr>
          <a:xfrm>
            <a:off x="4837279" y="1147763"/>
            <a:ext cx="3955407" cy="249078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E1D6680-38E8-B522-1C02-F8604E7FAB7C}"/>
              </a:ext>
            </a:extLst>
          </p:cNvPr>
          <p:cNvSpPr/>
          <p:nvPr/>
        </p:nvSpPr>
        <p:spPr>
          <a:xfrm>
            <a:off x="4876800" y="1783556"/>
            <a:ext cx="761999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76C406-D993-3664-C1B1-E369067AEA3D}"/>
              </a:ext>
            </a:extLst>
          </p:cNvPr>
          <p:cNvSpPr/>
          <p:nvPr/>
        </p:nvSpPr>
        <p:spPr>
          <a:xfrm>
            <a:off x="7620000" y="2552700"/>
            <a:ext cx="761999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B8A203C0-3BA3-8D7A-B0EA-3D2CE0957D8D}"/>
              </a:ext>
            </a:extLst>
          </p:cNvPr>
          <p:cNvSpPr txBox="1">
            <a:spLocks/>
          </p:cNvSpPr>
          <p:nvPr/>
        </p:nvSpPr>
        <p:spPr bwMode="auto">
          <a:xfrm>
            <a:off x="304800" y="3867150"/>
            <a:ext cx="67056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Moving forward, raw bay will be audited weekly, ensuring inventory is accurate and material is easy to find</a:t>
            </a:r>
          </a:p>
        </p:txBody>
      </p:sp>
    </p:spTree>
    <p:extLst>
      <p:ext uri="{BB962C8B-B14F-4D97-AF65-F5344CB8AC3E}">
        <p14:creationId xmlns:p14="http://schemas.microsoft.com/office/powerpoint/2010/main" val="2238492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5FA4-F10E-2F9D-5B5A-3F754499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C1950-3922-F157-62EE-1AA09A33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1055"/>
            <a:ext cx="5334000" cy="2115496"/>
          </a:xfrm>
        </p:spPr>
        <p:txBody>
          <a:bodyPr>
            <a:normAutofit/>
          </a:bodyPr>
          <a:lstStyle/>
          <a:p>
            <a:r>
              <a:rPr lang="en-US" sz="1800" dirty="0"/>
              <a:t>Problem: Large masts limit view in large forklifts making higher-up load movements slow and imprecise</a:t>
            </a:r>
          </a:p>
          <a:p>
            <a:r>
              <a:rPr lang="en-US" sz="1800" dirty="0"/>
              <a:t>Solution: mast camera</a:t>
            </a:r>
          </a:p>
          <a:p>
            <a:r>
              <a:rPr lang="en-US" sz="1800" dirty="0"/>
              <a:t>Like back up camera, but attaches to front of forklift at fork level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D10D2E-39C7-22DE-903C-B74B0450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 Camera System</a:t>
            </a:r>
          </a:p>
        </p:txBody>
      </p:sp>
      <p:pic>
        <p:nvPicPr>
          <p:cNvPr id="5" name="Picture 4" descr="A camera with a screen on&#10;&#10;AI-generated content may be incorrect.">
            <a:extLst>
              <a:ext uri="{FF2B5EF4-FFF2-40B4-BE49-F238E27FC236}">
                <a16:creationId xmlns:a16="http://schemas.microsoft.com/office/drawing/2014/main" id="{BDA7A62F-6048-4D71-7AEF-F7E62F176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43837" r="12185" b="4074"/>
          <a:stretch>
            <a:fillRect/>
          </a:stretch>
        </p:blipFill>
        <p:spPr>
          <a:xfrm>
            <a:off x="2046779" y="2609937"/>
            <a:ext cx="3451196" cy="2009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2ED5C9-F3D0-CB94-8690-07AE284821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" t="12529" r="11568" b="2537"/>
          <a:stretch>
            <a:fillRect/>
          </a:stretch>
        </p:blipFill>
        <p:spPr>
          <a:xfrm rot="5400000">
            <a:off x="5695950" y="1447800"/>
            <a:ext cx="3390900" cy="259080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0835BF2A-BE00-6018-A2D9-3627BF20BE84}"/>
              </a:ext>
            </a:extLst>
          </p:cNvPr>
          <p:cNvSpPr/>
          <p:nvPr/>
        </p:nvSpPr>
        <p:spPr>
          <a:xfrm rot="12346670">
            <a:off x="5519073" y="1429754"/>
            <a:ext cx="457200" cy="304800"/>
          </a:xfrm>
          <a:prstGeom prst="leftArrow">
            <a:avLst>
              <a:gd name="adj1" fmla="val 43846"/>
              <a:gd name="adj2" fmla="val 80192"/>
            </a:avLst>
          </a:prstGeom>
          <a:solidFill>
            <a:srgbClr val="99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B3240859-1A70-4CFF-FF39-AC7B938D5D9C}"/>
              </a:ext>
            </a:extLst>
          </p:cNvPr>
          <p:cNvSpPr/>
          <p:nvPr/>
        </p:nvSpPr>
        <p:spPr>
          <a:xfrm rot="5400000">
            <a:off x="1165391" y="3159913"/>
            <a:ext cx="871526" cy="609600"/>
          </a:xfrm>
          <a:prstGeom prst="bentUpArrow">
            <a:avLst>
              <a:gd name="adj1" fmla="val 32403"/>
              <a:gd name="adj2" fmla="val 34126"/>
              <a:gd name="adj3" fmla="val 37253"/>
            </a:avLst>
          </a:prstGeom>
          <a:solidFill>
            <a:srgbClr val="A30B3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07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5A6AD-DD09-3C50-02D7-46810FA81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4" y="1123950"/>
            <a:ext cx="4038600" cy="3714750"/>
          </a:xfrm>
        </p:spPr>
        <p:txBody>
          <a:bodyPr>
            <a:normAutofit/>
          </a:bodyPr>
          <a:lstStyle/>
          <a:p>
            <a:r>
              <a:rPr lang="en-US" sz="1800" dirty="0"/>
              <a:t>For one camera system: $2764</a:t>
            </a:r>
          </a:p>
          <a:p>
            <a:r>
              <a:rPr lang="en-US" sz="1800" dirty="0"/>
              <a:t>Comes with 7” monitor, monitor mount, camera, 6.8Ah battery, battery charger</a:t>
            </a:r>
          </a:p>
          <a:p>
            <a:pPr lvl="1"/>
            <a:r>
              <a:rPr lang="en-US" sz="1800" dirty="0"/>
              <a:t>Clarks will need 4A model, yellow forklifts will need 3A, big red not compatible</a:t>
            </a:r>
          </a:p>
          <a:p>
            <a:r>
              <a:rPr lang="en-US" sz="1800" dirty="0"/>
              <a:t>Camera comes with protective mount that bolts on like a fork</a:t>
            </a:r>
          </a:p>
          <a:p>
            <a:r>
              <a:rPr lang="en-US" sz="1800" dirty="0"/>
              <a:t>Lead time 2-3 weeks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F0A405-4BB4-535F-9F56-41F047AC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 Camera System - HVS</a:t>
            </a:r>
          </a:p>
        </p:txBody>
      </p:sp>
      <p:pic>
        <p:nvPicPr>
          <p:cNvPr id="1026" name="Picture 2" descr="Integra on truck">
            <a:extLst>
              <a:ext uri="{FF2B5EF4-FFF2-40B4-BE49-F238E27FC236}">
                <a16:creationId xmlns:a16="http://schemas.microsoft.com/office/drawing/2014/main" id="{9D182DFC-BFDB-6331-8858-42717B25E4FA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022" y="914400"/>
            <a:ext cx="3865756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9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7D3656-68F1-8DCD-EB32-AF181A99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 Camera System - Kocchi’s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1920B-0EB5-D256-C97F-571F4593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19150"/>
            <a:ext cx="4038600" cy="3810000"/>
          </a:xfrm>
        </p:spPr>
        <p:txBody>
          <a:bodyPr>
            <a:normAutofit/>
          </a:bodyPr>
          <a:lstStyle/>
          <a:p>
            <a:r>
              <a:rPr lang="en-US" sz="1800" dirty="0"/>
              <a:t>For one system: $429 + $97 for spare power bank</a:t>
            </a:r>
          </a:p>
          <a:p>
            <a:r>
              <a:rPr lang="en-US" sz="1800" dirty="0"/>
              <a:t>Comes with 7” monitor, camera, magnetic power bank</a:t>
            </a:r>
          </a:p>
          <a:p>
            <a:r>
              <a:rPr lang="en-US" sz="1800" dirty="0"/>
              <a:t>Camera bolts on to fork carriage, we would need to make a simple guard, shown bottom right</a:t>
            </a:r>
          </a:p>
          <a:p>
            <a:r>
              <a:rPr lang="en-US" sz="1800" dirty="0"/>
              <a:t>Camera connects to power bank, monitor runs on vehicle power</a:t>
            </a:r>
          </a:p>
          <a:p>
            <a:r>
              <a:rPr lang="en-US" sz="1800" dirty="0"/>
              <a:t>Lead time unknown, company based in China</a:t>
            </a:r>
          </a:p>
          <a:p>
            <a:endParaRPr lang="en-US" sz="1800" dirty="0"/>
          </a:p>
        </p:txBody>
      </p:sp>
      <p:pic>
        <p:nvPicPr>
          <p:cNvPr id="10" name="Picture 9" descr="A close-up of a machine&#10;&#10;AI-generated content may be incorrect.">
            <a:extLst>
              <a:ext uri="{FF2B5EF4-FFF2-40B4-BE49-F238E27FC236}">
                <a16:creationId xmlns:a16="http://schemas.microsoft.com/office/drawing/2014/main" id="{06738E9D-3D03-C4C0-02BA-1A14561AC4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9" t="14285" r="21103" b="15001"/>
          <a:stretch>
            <a:fillRect/>
          </a:stretch>
        </p:blipFill>
        <p:spPr>
          <a:xfrm>
            <a:off x="4876800" y="932804"/>
            <a:ext cx="3886200" cy="1885950"/>
          </a:xfrm>
          <a:prstGeom prst="rect">
            <a:avLst/>
          </a:prstGeom>
        </p:spPr>
      </p:pic>
      <p:pic>
        <p:nvPicPr>
          <p:cNvPr id="12" name="Picture 11" descr="A forklift with a black metal frame&#10;&#10;AI-generated content may be incorrect.">
            <a:extLst>
              <a:ext uri="{FF2B5EF4-FFF2-40B4-BE49-F238E27FC236}">
                <a16:creationId xmlns:a16="http://schemas.microsoft.com/office/drawing/2014/main" id="{2A3D381D-F783-C111-B417-A49694C94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8" t="38148" r="8519" b="33704"/>
          <a:stretch>
            <a:fillRect/>
          </a:stretch>
        </p:blipFill>
        <p:spPr>
          <a:xfrm>
            <a:off x="5219700" y="2990503"/>
            <a:ext cx="3200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2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C80C1-91AE-FA9F-A118-FF6B4C17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CAF7D3-81D1-D01E-2861-C0B89232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875354"/>
            <a:ext cx="1219200" cy="439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Kocchi’s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8CC9D1-6393-2F80-1BD8-30993676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 Camera System - Cost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7CDD6FB4-C019-28D7-EB2C-849500D2E5B9}"/>
              </a:ext>
            </a:extLst>
          </p:cNvPr>
          <p:cNvSpPr txBox="1">
            <a:spLocks/>
          </p:cNvSpPr>
          <p:nvPr/>
        </p:nvSpPr>
        <p:spPr bwMode="auto">
          <a:xfrm>
            <a:off x="6477000" y="875353"/>
            <a:ext cx="1219200" cy="43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800" kern="0" dirty="0"/>
              <a:t>HVS</a:t>
            </a:r>
          </a:p>
          <a:p>
            <a:pPr marL="0" indent="0">
              <a:buFont typeface="Wingdings" pitchFamily="2" charset="2"/>
              <a:buNone/>
            </a:pPr>
            <a:endParaRPr lang="en-US" sz="1800" kern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86762D-543E-5E08-62EC-C10D06F8A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8475"/>
              </p:ext>
            </p:extLst>
          </p:nvPr>
        </p:nvGraphicFramePr>
        <p:xfrm>
          <a:off x="5181602" y="1310638"/>
          <a:ext cx="2971798" cy="1873089"/>
        </p:xfrm>
        <a:graphic>
          <a:graphicData uri="http://schemas.openxmlformats.org/drawingml/2006/table">
            <a:tbl>
              <a:tblPr/>
              <a:tblGrid>
                <a:gridCol w="962695">
                  <a:extLst>
                    <a:ext uri="{9D8B030D-6E8A-4147-A177-3AD203B41FA5}">
                      <a16:colId xmlns:a16="http://schemas.microsoft.com/office/drawing/2014/main" val="81108085"/>
                    </a:ext>
                  </a:extLst>
                </a:gridCol>
                <a:gridCol w="669701">
                  <a:extLst>
                    <a:ext uri="{9D8B030D-6E8A-4147-A177-3AD203B41FA5}">
                      <a16:colId xmlns:a16="http://schemas.microsoft.com/office/drawing/2014/main" val="2525691749"/>
                    </a:ext>
                  </a:extLst>
                </a:gridCol>
                <a:gridCol w="669701">
                  <a:extLst>
                    <a:ext uri="{9D8B030D-6E8A-4147-A177-3AD203B41FA5}">
                      <a16:colId xmlns:a16="http://schemas.microsoft.com/office/drawing/2014/main" val="2353435009"/>
                    </a:ext>
                  </a:extLst>
                </a:gridCol>
                <a:gridCol w="669701">
                  <a:extLst>
                    <a:ext uri="{9D8B030D-6E8A-4147-A177-3AD203B41FA5}">
                      <a16:colId xmlns:a16="http://schemas.microsoft.com/office/drawing/2014/main" val="1129780314"/>
                    </a:ext>
                  </a:extLst>
                </a:gridCol>
              </a:tblGrid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Qty.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Price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11291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sng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Big Red</a:t>
                      </a:r>
                      <a:endParaRPr lang="en-US" sz="1200" b="0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038342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Green Clark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$2,764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$5,528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97831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Yellow 4-Fork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$2,764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$2,764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811310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$8,292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591427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367333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OPTIONAL: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0145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Yellow 2-Fork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$2,764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$27,640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498608"/>
                  </a:ext>
                </a:extLst>
              </a:tr>
              <a:tr h="21579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New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$35,932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390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6F7E63-EDA1-F810-6D6E-627EECA47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105709"/>
              </p:ext>
            </p:extLst>
          </p:nvPr>
        </p:nvGraphicFramePr>
        <p:xfrm>
          <a:off x="990601" y="1314448"/>
          <a:ext cx="2971799" cy="1873089"/>
        </p:xfrm>
        <a:graphic>
          <a:graphicData uri="http://schemas.openxmlformats.org/drawingml/2006/table">
            <a:tbl>
              <a:tblPr/>
              <a:tblGrid>
                <a:gridCol w="943652">
                  <a:extLst>
                    <a:ext uri="{9D8B030D-6E8A-4147-A177-3AD203B41FA5}">
                      <a16:colId xmlns:a16="http://schemas.microsoft.com/office/drawing/2014/main" val="456071906"/>
                    </a:ext>
                  </a:extLst>
                </a:gridCol>
                <a:gridCol w="676049">
                  <a:extLst>
                    <a:ext uri="{9D8B030D-6E8A-4147-A177-3AD203B41FA5}">
                      <a16:colId xmlns:a16="http://schemas.microsoft.com/office/drawing/2014/main" val="3315917251"/>
                    </a:ext>
                  </a:extLst>
                </a:gridCol>
                <a:gridCol w="676049">
                  <a:extLst>
                    <a:ext uri="{9D8B030D-6E8A-4147-A177-3AD203B41FA5}">
                      <a16:colId xmlns:a16="http://schemas.microsoft.com/office/drawing/2014/main" val="3530429368"/>
                    </a:ext>
                  </a:extLst>
                </a:gridCol>
                <a:gridCol w="676049">
                  <a:extLst>
                    <a:ext uri="{9D8B030D-6E8A-4147-A177-3AD203B41FA5}">
                      <a16:colId xmlns:a16="http://schemas.microsoft.com/office/drawing/2014/main" val="385348665"/>
                    </a:ext>
                  </a:extLst>
                </a:gridCol>
              </a:tblGrid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Qty.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Price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77701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Big Red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201102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Green Clark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$1,052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93777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Yellow 4-Fork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958018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$2,104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622973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56128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OPTIONAL: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0341"/>
                  </a:ext>
                </a:extLst>
              </a:tr>
              <a:tr h="207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Yellow 2-Fork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$5,260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551799"/>
                  </a:ext>
                </a:extLst>
              </a:tr>
              <a:tr h="21579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 New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$7,364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924592"/>
                  </a:ext>
                </a:extLst>
              </a:tr>
            </a:tbl>
          </a:graphicData>
        </a:graphic>
      </p:graphicFrame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0293890-E5DA-9B40-DD67-E97790FFC90C}"/>
              </a:ext>
            </a:extLst>
          </p:cNvPr>
          <p:cNvSpPr txBox="1">
            <a:spLocks/>
          </p:cNvSpPr>
          <p:nvPr/>
        </p:nvSpPr>
        <p:spPr bwMode="auto">
          <a:xfrm>
            <a:off x="1828800" y="3301838"/>
            <a:ext cx="5829300" cy="125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Kocchi’s will require much more labor</a:t>
            </a:r>
          </a:p>
          <a:p>
            <a:r>
              <a:rPr lang="en-US" sz="1800" kern="0" dirty="0"/>
              <a:t>Kocchi’s price includes a spare battery for every system, might not be necessary</a:t>
            </a:r>
          </a:p>
          <a:p>
            <a:r>
              <a:rPr lang="en-US" sz="1800" kern="0" dirty="0"/>
              <a:t>HVS does not support Big Red</a:t>
            </a:r>
          </a:p>
        </p:txBody>
      </p:sp>
    </p:spTree>
    <p:extLst>
      <p:ext uri="{BB962C8B-B14F-4D97-AF65-F5344CB8AC3E}">
        <p14:creationId xmlns:p14="http://schemas.microsoft.com/office/powerpoint/2010/main" val="1624894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E79E37-3AD0-BF6F-956D-CE71876A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Studies – Press 117 Blue Bird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E5EEA12-5247-D226-43C4-B10D5920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4" y="904402"/>
            <a:ext cx="8382000" cy="1371600"/>
          </a:xfrm>
        </p:spPr>
        <p:txBody>
          <a:bodyPr>
            <a:normAutofit/>
          </a:bodyPr>
          <a:lstStyle/>
          <a:p>
            <a:r>
              <a:rPr lang="en-US" sz="1800" dirty="0"/>
              <a:t>Recorded videos of 3-5 press cycles per part</a:t>
            </a:r>
          </a:p>
          <a:p>
            <a:r>
              <a:rPr lang="en-US" sz="1800" dirty="0"/>
              <a:t>Analyzed videos to find cycle timings accurate to 0.1 seconds</a:t>
            </a:r>
          </a:p>
          <a:p>
            <a:r>
              <a:rPr lang="en-US" sz="1800" dirty="0"/>
              <a:t>Allows for more accurate quoting and performance expectations</a:t>
            </a:r>
          </a:p>
          <a:p>
            <a:pPr lvl="1"/>
            <a:r>
              <a:rPr lang="en-US" sz="1400" dirty="0"/>
              <a:t>Also allows for accurate comparisons between press 117 and 217 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CE2A773-6A12-EF59-E5B5-0051F67BF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8167"/>
              </p:ext>
            </p:extLst>
          </p:nvPr>
        </p:nvGraphicFramePr>
        <p:xfrm>
          <a:off x="1752600" y="2279812"/>
          <a:ext cx="5638800" cy="22021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17757780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684942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7276704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80901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4835049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9691472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Trial #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Rear Final Form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CV Blank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CV Preform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T3 Preform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T3 Final Form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923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Fast Approach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3320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Press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697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Retract Slow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2923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Cushion Set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3811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Rapid Retract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22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Press Cycle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4244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Material Handling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985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Total (s)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096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Rate per hour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28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Quoted rate per hour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212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E8E8E8"/>
                          </a:solidFill>
                          <a:effectLst/>
                          <a:latin typeface="Aptos Narrow" panose="020B0004020202020204" pitchFamily="34" charset="0"/>
                        </a:rPr>
                        <a:t>Efficiency vs quote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128.1%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80.3%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0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1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3CF7D-7998-31AF-A44A-E5AABDE8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9276DA-C71C-A4B7-4A02-92E6125AB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Conveyor Electrical Cover</a:t>
            </a:r>
          </a:p>
        </p:txBody>
      </p:sp>
      <p:pic>
        <p:nvPicPr>
          <p:cNvPr id="14" name="Content Placeholder 13" descr="A machine with a large box&#10;&#10;AI-generated content may be incorrect.">
            <a:extLst>
              <a:ext uri="{FF2B5EF4-FFF2-40B4-BE49-F238E27FC236}">
                <a16:creationId xmlns:a16="http://schemas.microsoft.com/office/drawing/2014/main" id="{87C8D618-FD98-F202-48FF-F9B9748A4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8" t="18207" r="20412" b="18066"/>
          <a:stretch>
            <a:fillRect/>
          </a:stretch>
        </p:blipFill>
        <p:spPr>
          <a:xfrm>
            <a:off x="381000" y="1838806"/>
            <a:ext cx="2449520" cy="263794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9A806E-C09B-C6BF-0CD2-485BFD957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324" y="1838806"/>
            <a:ext cx="2311119" cy="2637944"/>
          </a:xfrm>
          <a:prstGeom prst="rect">
            <a:avLst/>
          </a:prstGeom>
        </p:spPr>
      </p:pic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F3DF832A-5954-4C55-E633-1252F4A56E39}"/>
              </a:ext>
            </a:extLst>
          </p:cNvPr>
          <p:cNvSpPr txBox="1">
            <a:spLocks/>
          </p:cNvSpPr>
          <p:nvPr/>
        </p:nvSpPr>
        <p:spPr bwMode="auto">
          <a:xfrm>
            <a:off x="381000" y="761055"/>
            <a:ext cx="7467600" cy="66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US" sz="1800" kern="0" dirty="0"/>
              <a:t>Problem: Loose wiring exposed by the electrical cabinet at the conveyor near the Bystronic laser, which is at risk of a forklift jab</a:t>
            </a:r>
            <a:endParaRPr lang="en-US" sz="1400" kern="0" dirty="0"/>
          </a:p>
          <a:p>
            <a:endParaRPr lang="en-US" sz="1800" kern="0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4366758-4557-9E12-21F8-23DCEF86134C}"/>
              </a:ext>
            </a:extLst>
          </p:cNvPr>
          <p:cNvSpPr txBox="1">
            <a:spLocks/>
          </p:cNvSpPr>
          <p:nvPr/>
        </p:nvSpPr>
        <p:spPr bwMode="auto">
          <a:xfrm>
            <a:off x="2894807" y="1733550"/>
            <a:ext cx="384503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Solution: Cover it up</a:t>
            </a:r>
          </a:p>
          <a:p>
            <a:r>
              <a:rPr lang="en-US" sz="1800" kern="0" dirty="0"/>
              <a:t>Modeled surrounding area, then designed a cover to protect/hide the wires while keeping them accessible</a:t>
            </a:r>
          </a:p>
          <a:p>
            <a:r>
              <a:rPr lang="en-US" sz="1800" kern="0" dirty="0"/>
              <a:t>Next steps: tweak design for ease of assembly</a:t>
            </a:r>
          </a:p>
          <a:p>
            <a:pPr lvl="1"/>
            <a:r>
              <a:rPr lang="en-US" sz="1400" kern="0" dirty="0"/>
              <a:t>Get some hinges to attach a top cover</a:t>
            </a:r>
          </a:p>
          <a:p>
            <a:pPr lvl="1"/>
            <a:r>
              <a:rPr lang="en-US" sz="1400" kern="0" dirty="0"/>
              <a:t>Add a panel under the cabinet</a:t>
            </a:r>
          </a:p>
        </p:txBody>
      </p:sp>
    </p:spTree>
    <p:extLst>
      <p:ext uri="{BB962C8B-B14F-4D97-AF65-F5344CB8AC3E}">
        <p14:creationId xmlns:p14="http://schemas.microsoft.com/office/powerpoint/2010/main" val="321150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E296-3E61-ED1D-DA0D-D72DA025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Metal parts on a blue surface&#10;&#10;AI-generated content may be incorrect.">
            <a:extLst>
              <a:ext uri="{FF2B5EF4-FFF2-40B4-BE49-F238E27FC236}">
                <a16:creationId xmlns:a16="http://schemas.microsoft.com/office/drawing/2014/main" id="{BA133DEB-DE45-60B4-5744-838B3AF5A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1525" y="1378744"/>
            <a:ext cx="3714750" cy="278606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490D198-7D35-C5C9-F4B2-47F383B1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MV2 Sample Support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1BBEA11-80A4-352B-B889-B64F8C6F8034}"/>
              </a:ext>
            </a:extLst>
          </p:cNvPr>
          <p:cNvSpPr txBox="1">
            <a:spLocks/>
          </p:cNvSpPr>
          <p:nvPr/>
        </p:nvSpPr>
        <p:spPr bwMode="auto">
          <a:xfrm>
            <a:off x="4343400" y="1962150"/>
            <a:ext cx="4572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5000"/>
              <a:buFont typeface="Wingdings" pitchFamily="2" charset="2"/>
              <a:buChar char="§"/>
              <a:defRPr sz="2400" b="1">
                <a:solidFill>
                  <a:srgbClr val="A30B35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2pPr>
            <a:lvl3pPr marL="1025525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Wingdings" pitchFamily="2" charset="2"/>
              <a:buChar char="w"/>
              <a:defRPr b="1">
                <a:solidFill>
                  <a:schemeClr val="tx1"/>
                </a:solidFill>
                <a:latin typeface="+mn-lt"/>
              </a:defRPr>
            </a:lvl3pPr>
            <a:lvl4pPr marL="131603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Font typeface="Times New Roman" pitchFamily="18" charset="0"/>
              <a:buChar char="–"/>
              <a:defRPr sz="1600" b="1">
                <a:solidFill>
                  <a:schemeClr val="tx1"/>
                </a:solidFill>
                <a:latin typeface="+mn-lt"/>
              </a:defRPr>
            </a:lvl4pPr>
            <a:lvl5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A30B35"/>
              </a:buClr>
              <a:buSzPct val="110000"/>
              <a:buChar char="»"/>
              <a:defRPr sz="14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US" sz="1800" kern="0" dirty="0"/>
              <a:t>Assisted in the receiving, cleaning, marking, and repackaging of 30+ new Mack and Volvo samples to be shipped out for inspection</a:t>
            </a:r>
            <a:endParaRPr lang="en-US" sz="1400" kern="0" dirty="0"/>
          </a:p>
          <a:p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674266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D995-002A-907C-909D-A1540E05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4FBD-D7EF-3910-A78C-AAE2185B745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Hard skills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>
                <a:ea typeface="+mn-ea"/>
                <a:cs typeface="+mn-cs"/>
              </a:rPr>
              <a:t>Welding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>
                <a:ea typeface="+mn-ea"/>
                <a:cs typeface="+mn-cs"/>
              </a:rPr>
              <a:t>Creo, AutoCAD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>
                <a:ea typeface="+mn-ea"/>
                <a:cs typeface="+mn-cs"/>
              </a:rPr>
              <a:t>Machinery Programming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>
                <a:ea typeface="+mn-ea"/>
                <a:cs typeface="+mn-cs"/>
              </a:rPr>
              <a:t>Working with hands/tools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>
                <a:ea typeface="+mn-ea"/>
                <a:cs typeface="+mn-cs"/>
              </a:rPr>
              <a:t>Microsoft Office (especially Excel)</a:t>
            </a:r>
          </a:p>
          <a:p>
            <a:pPr lvl="1"/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61F447-6FEC-9EB0-1A8A-7DE36F48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F642C1-6495-96F9-93BF-2AD05C327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4343400" cy="371475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Soft skills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Interdepartmental communication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Root cause analysis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Problem solving</a:t>
            </a:r>
          </a:p>
          <a:p>
            <a:pPr lvl="1">
              <a:lnSpc>
                <a:spcPts val="3000"/>
              </a:lnSpc>
              <a:spcAft>
                <a:spcPts val="150"/>
              </a:spcAft>
            </a:pPr>
            <a:r>
              <a:rPr lang="en-US" sz="1800" dirty="0"/>
              <a:t>Project priorities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83919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860A-B605-5767-F44D-8895252D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05DF05-9A83-BFD9-E363-049A0008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46C95-270B-4E37-5180-DB4E2831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658295"/>
            <a:ext cx="4724400" cy="1676400"/>
          </a:xfrm>
        </p:spPr>
        <p:txBody>
          <a:bodyPr/>
          <a:lstStyle/>
          <a:p>
            <a:r>
              <a:rPr lang="en-US" dirty="0"/>
              <a:t>ME Team</a:t>
            </a:r>
          </a:p>
          <a:p>
            <a:r>
              <a:rPr lang="en-US" dirty="0"/>
              <a:t>HR</a:t>
            </a:r>
          </a:p>
          <a:p>
            <a:r>
              <a:rPr lang="en-US" dirty="0"/>
              <a:t>Everyone!!!</a:t>
            </a:r>
          </a:p>
        </p:txBody>
      </p:sp>
    </p:spTree>
    <p:extLst>
      <p:ext uri="{BB962C8B-B14F-4D97-AF65-F5344CB8AC3E}">
        <p14:creationId xmlns:p14="http://schemas.microsoft.com/office/powerpoint/2010/main" val="1727298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988113"/>
      </p:ext>
    </p:extLst>
  </p:cSld>
  <p:clrMapOvr>
    <a:masterClrMapping/>
  </p:clrMapOvr>
</p:sld>
</file>

<file path=ppt/theme/theme1.xml><?xml version="1.0" encoding="utf-8"?>
<a:theme xmlns:a="http://schemas.openxmlformats.org/drawingml/2006/main" name="2023 layout">
  <a:themeElements>
    <a:clrScheme name="Hendricks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F7F7F"/>
      </a:accent1>
      <a:accent2>
        <a:srgbClr val="A30B35"/>
      </a:accent2>
      <a:accent3>
        <a:srgbClr val="6B8383"/>
      </a:accent3>
      <a:accent4>
        <a:srgbClr val="997200"/>
      </a:accent4>
      <a:accent5>
        <a:srgbClr val="5F5F5F"/>
      </a:accent5>
      <a:accent6>
        <a:srgbClr val="A5A5A5"/>
      </a:accent6>
      <a:hlink>
        <a:srgbClr val="333399"/>
      </a:hlink>
      <a:folHlink>
        <a:srgbClr val="00B0F0"/>
      </a:folHlink>
    </a:clrScheme>
    <a:fontScheme name="2008 Template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endrickson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7F7F7F"/>
        </a:accent1>
        <a:accent2>
          <a:srgbClr val="A30B35"/>
        </a:accent2>
        <a:accent3>
          <a:srgbClr val="6B8383"/>
        </a:accent3>
        <a:accent4>
          <a:srgbClr val="997200"/>
        </a:accent4>
        <a:accent5>
          <a:srgbClr val="5F5F5F"/>
        </a:accent5>
        <a:accent6>
          <a:srgbClr val="A5A5A5"/>
        </a:accent6>
        <a:hlink>
          <a:srgbClr val="333399"/>
        </a:hlink>
        <a:folHlink>
          <a:srgbClr val="00B0F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8" id="{25FD69F1-E304-4C18-ABB6-48673626C9B3}" vid="{8BDC659C-673A-414E-8EDF-0B32C1EF82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92D027D6484A4AB4B11175FB52986A" ma:contentTypeVersion="0" ma:contentTypeDescription="Create a new document." ma:contentTypeScope="" ma:versionID="7aa7aa923f22a5da8928aa48e839147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A8A129-5598-449B-BABE-E0DA06B19CDE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960A554-D8CA-438D-9B42-EC1EB02879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B7664A-3D4F-4B63-9888-676A39BE1B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90331e72-0c95-4d61-84c9-bae0df156178}" enabled="0" method="" siteId="{90331e72-0c95-4d61-84c9-bae0df15617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9599</TotalTime>
  <Words>1336</Words>
  <Application>Microsoft Office PowerPoint</Application>
  <PresentationFormat>On-screen Show (16:9)</PresentationFormat>
  <Paragraphs>342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 Narrow</vt:lpstr>
      <vt:lpstr>Arial</vt:lpstr>
      <vt:lpstr>Calibri</vt:lpstr>
      <vt:lpstr>Tahoma</vt:lpstr>
      <vt:lpstr>Times New Roman</vt:lpstr>
      <vt:lpstr>Wingdings</vt:lpstr>
      <vt:lpstr>2023 layout</vt:lpstr>
      <vt:lpstr>Internship Presentation Summer 2025</vt:lpstr>
      <vt:lpstr>Introduction</vt:lpstr>
      <vt:lpstr>Press 19 Die Rack</vt:lpstr>
      <vt:lpstr>Press 19 Die Rack</vt:lpstr>
      <vt:lpstr>Press 19 Die Rack</vt:lpstr>
      <vt:lpstr>Press 19 Die Rack</vt:lpstr>
      <vt:lpstr>Clad Springback Analysis</vt:lpstr>
      <vt:lpstr>Clad Springback Analysis</vt:lpstr>
      <vt:lpstr>Clad Springback Analysis</vt:lpstr>
      <vt:lpstr>Part Marking</vt:lpstr>
      <vt:lpstr>Part Marking</vt:lpstr>
      <vt:lpstr>Part Marking</vt:lpstr>
      <vt:lpstr>Press 217 Manipulator Heads</vt:lpstr>
      <vt:lpstr>Press 217 Manipulator Heads</vt:lpstr>
      <vt:lpstr>Bystronic Slat Lift</vt:lpstr>
      <vt:lpstr>Raw Bay Reorganization</vt:lpstr>
      <vt:lpstr>Raw Bay Reorganization</vt:lpstr>
      <vt:lpstr>Mast Camera System</vt:lpstr>
      <vt:lpstr>Mast Camera System - HVS</vt:lpstr>
      <vt:lpstr>Mast Camera System - Kocchi’s</vt:lpstr>
      <vt:lpstr>Mast Camera System - Cost</vt:lpstr>
      <vt:lpstr>Time Studies – Press 117 Blue Bird</vt:lpstr>
      <vt:lpstr>Conveyor Electrical Cover</vt:lpstr>
      <vt:lpstr>MV2 Sample Support</vt:lpstr>
      <vt:lpstr>Takeaways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STDUser</dc:creator>
  <cp:lastModifiedBy>Maushard, Neil</cp:lastModifiedBy>
  <cp:revision>35</cp:revision>
  <dcterms:created xsi:type="dcterms:W3CDTF">2018-11-16T18:31:09Z</dcterms:created>
  <dcterms:modified xsi:type="dcterms:W3CDTF">2025-08-08T19:10:57Z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0x0101003D92D027D6484A4AB4B11175FB52986A</vt:lpwstr>
  </property>
</Properties>
</file>